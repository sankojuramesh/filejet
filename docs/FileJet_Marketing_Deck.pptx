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48fe079-0a5b-6aed-ff01-28586e4aa935}">
          <p14:sldIdLst>
            <p14:sldId id="256"/>
            <p14:sldId id="257"/>
            <p14:sldId id="258"/>
            <p14:sldId id="259"/>
          </p14:sldIdLst>
        </p14:section>
        <p14:section name="Features" id="{52481004-3d86-9c8b-7473-f62e0fc36e94}">
          <p14:sldIdLst>
            <p14:sldId id="260"/>
            <p14:sldId id="261"/>
            <p14:sldId id="262"/>
            <p14:sldId id="263"/>
            <p14:sldId id="264"/>
            <p14:sldId id="265"/>
            <p14:sldId id="266"/>
            <p14:sldId id="267"/>
          </p14:sldIdLst>
        </p14:section>
        <p14:section name="Who it's for" id="{4ee2c96a-cf96-dd98-beb7-7ca1cd936bd5}">
          <p14:sldIdLst>
            <p14:sldId id="268"/>
          </p14:sldIdLst>
        </p14:section>
        <p14:section name="Comparison" id="{9e1a5242-253b-7666-4a09-a082f316d988}">
          <p14:sldIdLst>
            <p14:sldId id="269"/>
            <p14:sldId id="270"/>
          </p14:sldIdLst>
        </p14:section>
        <p14:section name="Get started" id="{9c6f291e-64d2-603e-a4c6-8466967786b4}">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FileJet (direct)</c:v>
                </c:pt>
              </c:strCache>
            </c:strRef>
          </c:tx>
          <c:spPr>
            <a:solidFill>
              <a:srgbClr val="FF6B2C"/>
            </a:solidFill>
            <a:effectLst/>
          </c:spPr>
          <c:invertIfNegative val="0"/>
          <c:dLbls>
            <c:numFmt formatCode="General"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50 Mbps</c:v>
                  </c:pt>
                  <c:pt idx="1">
                    <c:v>100 Mbps</c:v>
                  </c:pt>
                  <c:pt idx="2">
                    <c:v>300 Mbps</c:v>
                  </c:pt>
                  <c:pt idx="3">
                    <c:v>1 Gbps</c:v>
                  </c:pt>
                </c:lvl>
              </c:multiLvlStrCache>
            </c:multiLvlStrRef>
          </c:cat>
          <c:val>
            <c:numRef>
              <c:f>Sheet1!$B$2:$B$5</c:f>
              <c:numCache>
                <c:formatCode>General</c:formatCode>
                <c:ptCount val="4"/>
                <c:pt idx="0">
                  <c:v>27</c:v>
                </c:pt>
                <c:pt idx="1">
                  <c:v>14</c:v>
                </c:pt>
                <c:pt idx="2">
                  <c:v>5</c:v>
                </c:pt>
                <c:pt idx="3">
                  <c:v>1.5</c:v>
                </c:pt>
              </c:numCache>
            </c:numRef>
          </c:val>
        </c:ser>
        <c:ser>
          <c:idx val="1"/>
          <c:order val="1"/>
          <c:tx>
            <c:strRef>
              <c:f>Sheet1!$C$1</c:f>
              <c:strCache>
                <c:ptCount val="1"/>
                <c:pt idx="0">
                  <c:v>Cloud service (upload + download)</c:v>
                </c:pt>
              </c:strCache>
            </c:strRef>
          </c:tx>
          <c:spPr>
            <a:solidFill>
              <a:srgbClr val="94A3B8"/>
            </a:solidFill>
            <a:effectLst/>
          </c:spPr>
          <c:invertIfNegative val="0"/>
          <c:dLbls>
            <c:numFmt formatCode="General"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cat>
            <c:multiLvlStrRef>
              <c:f>Sheet1!$A$2:$A$5</c:f>
              <c:multiLvlStrCache>
                <c:ptCount val="4"/>
                <c:lvl>
                  <c:pt idx="0">
                    <c:v>50 Mbps</c:v>
                  </c:pt>
                  <c:pt idx="1">
                    <c:v>100 Mbps</c:v>
                  </c:pt>
                  <c:pt idx="2">
                    <c:v>300 Mbps</c:v>
                  </c:pt>
                  <c:pt idx="3">
                    <c:v>1 Gbps</c:v>
                  </c:pt>
                </c:lvl>
              </c:multiLvlStrCache>
            </c:multiLvlStrRef>
          </c:cat>
          <c:val>
            <c:numRef>
              <c:f>Sheet1!$C$2:$C$5</c:f>
              <c:numCache>
                <c:formatCode>General</c:formatCode>
                <c:ptCount val="4"/>
                <c:pt idx="0">
                  <c:v>54</c:v>
                </c:pt>
                <c:pt idx="1">
                  <c:v>27</c:v>
                </c:pt>
                <c:pt idx="2">
                  <c:v>9</c:v>
                </c:pt>
                <c:pt idx="3">
                  <c:v>3</c:v>
                </c:pt>
              </c:numCache>
            </c:numRef>
          </c:val>
        </c:ser>
        <c:dLbls>
          <c:numFmt formatCode="General" sourceLinked="0"/>
          <c:txPr>
            <a:bodyPr/>
            <a:lstStyle/>
            <a:p>
              <a:pPr>
                <a:defRPr b="0" i="0" strike="noStrike" sz="1100" u="none">
                  <a:solidFill>
                    <a:srgbClr val="0F172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475569"/>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title>
          <c:tx>
            <c:rich>
              <a:bodyPr/>
              <a:lstStyle/>
              <a:p>
                <a:pPr>
                  <a:defRPr sz="1000" b="0" i="0" u="none" strike="noStrike">
                    <a:solidFill>
                      <a:srgbClr val="475569"/>
                    </a:solidFill>
                    <a:latin typeface="Arial"/>
                  </a:defRPr>
                </a:pPr>
                <a:r>
                  <a:rPr sz="1000" b="0" i="0" u="none" strike="noStrike">
                    <a:solidFill>
                      <a:srgbClr val="475569"/>
                    </a:solidFill>
                    <a:latin typeface="Arial"/>
                  </a:rPr>
                  <a:t>minutes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475569"/>
                </a:solidFill>
                <a:latin typeface="+mn-lt"/>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475569"/>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FileJet is one desktop app for sharing folders and sending files of any size directly between computers. A small cloud handles accounts and permissions and keeps metadata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real results depend on the slower of the two connections, distance and disks.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Competitor details are general product characteristics based on public information as of October 2026. Plans and limits change - verify with each vendor.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to know: sender and receiver must both be online at some point (the outbox handles timing). If both sides are on very strict networks, enable UPnP, a port forward or IPv6 on one 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J_TITL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651760"/>
            <a:ext cx="694944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FJ_SECTION">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920240"/>
            <a:ext cx="8046720" cy="8229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2834640"/>
            <a:ext cx="7315200" cy="73152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J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rtlCol="0"/>
          <a:lstStyle>
            <a:lvl1pPr indent="0" marL="0">
              <a:buNone/>
              <a:defRPr lang="en-US" sz="1400" dirty="0">
                <a:solidFill>
                  <a:schemeClr val="tx2"/>
                </a:solidFill>
              </a:defRPr>
            </a:lvl1pPr>
          </a:lstStyle>
          <a:p>
            <a:pPr indent="0" marL="0">
              <a:buNone/>
            </a:pPr>
            <a:endParaRPr lang="en-US" sz="1400" dirty="0"/>
          </a:p>
        </p:txBody>
      </p:sp>
      <p:sp>
        <p:nvSpPr>
          <p:cNvPr id="4"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tx2"/>
                </a:solidFill>
              </a:rPr>
              <a:t>FileJet  ·  Direct, private file delivery</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J_DARK_CONTENT">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rtlCol="0"/>
          <a:lstStyle>
            <a:lvl1pPr indent="0" marL="0">
              <a:buNone/>
              <a:defRPr lang="en-US" sz="1400" dirty="0">
                <a:solidFill>
                  <a:schemeClr val="bg2"/>
                </a:solidFill>
              </a:defRPr>
            </a:lvl1pPr>
          </a:lstStyle>
          <a:p>
            <a:pPr indent="0" marL="0">
              <a:buNone/>
            </a:pPr>
            <a:endParaRPr lang="en-US" sz="1400" dirty="0"/>
          </a:p>
        </p:txBody>
      </p:sp>
      <p:sp>
        <p:nvSpPr>
          <p:cNvPr id="4" name="Text 0"/>
          <p:cNvSpPr/>
          <p:nvPr/>
        </p:nvSpPr>
        <p:spPr>
          <a:xfrm>
            <a:off x="457200" y="4773168"/>
            <a:ext cx="4572000" cy="228600"/>
          </a:xfrm>
          <a:prstGeom prst="rect">
            <a:avLst/>
          </a:prstGeom>
          <a:noFill/>
          <a:ln/>
        </p:spPr>
        <p:txBody>
          <a:bodyPr wrap="square" lIns="0" tIns="0" rIns="0" bIns="0" rtlCol="0" anchor="ctr"/>
          <a:lstStyle/>
          <a:p>
            <a:pPr indent="0" marL="0">
              <a:buNone/>
            </a:pPr>
            <a:r>
              <a:rPr lang="en-US" sz="900" dirty="0">
                <a:solidFill>
                  <a:schemeClr val="bg2"/>
                </a:solidFill>
              </a:rPr>
              <a:t>FileJet  ·  Direct, private file delivery</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4.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4.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slideLayout" Target="../slideLayouts/slideLayout5.xml"/><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4.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slideLayout" Target="../slideLayouts/slideLayout4.xml"/><Relationship Id="rId8"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slideLayout" Target="../slideLayouts/slideLayout4.xml"/><Relationship Id="rId8"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Logo circle"/>
          <p:cNvSpPr/>
          <p:nvPr/>
        </p:nvSpPr>
        <p:spPr>
          <a:xfrm>
            <a:off x="548640" y="594360"/>
            <a:ext cx="685800" cy="685800"/>
          </a:xfrm>
          <a:prstGeom prst="ellipse">
            <a:avLst/>
          </a:prstGeom>
          <a:solidFill>
            <a:schemeClr val="accent1"/>
          </a:solidFill>
          <a:ln/>
        </p:spPr>
      </p:sp>
      <p:pic>
        <p:nvPicPr>
          <p:cNvPr id="3" name="Logo icon" descr="preencoded.png">    </p:cNvPr>
          <p:cNvPicPr>
            <a:picLocks noChangeAspect="1"/>
          </p:cNvPicPr>
          <p:nvPr/>
        </p:nvPicPr>
        <p:blipFill>
          <a:blip r:embed="rId1"/>
          <a:stretch>
            <a:fillRect/>
          </a:stretch>
        </p:blipFill>
        <p:spPr>
          <a:xfrm>
            <a:off x="713232" y="758952"/>
            <a:ext cx="356616" cy="356616"/>
          </a:xfrm>
          <a:prstGeom prst="rect">
            <a:avLst/>
          </a:prstGeom>
        </p:spPr>
      </p:pic>
      <p:sp>
        <p:nvSpPr>
          <p:cNvPr id="4" name="Brand"/>
          <p:cNvSpPr txBox="1"/>
          <p:nvPr/>
        </p:nvSpPr>
        <p:spPr>
          <a:xfrm>
            <a:off x="1371600" y="594360"/>
            <a:ext cx="3657600" cy="685800"/>
          </a:xfrm>
          <a:prstGeom prst="rect">
            <a:avLst/>
          </a:prstGeom>
          <a:noFill/>
          <a:ln/>
        </p:spPr>
        <p:txBody>
          <a:bodyPr wrap="square" lIns="0" tIns="0" rIns="0" bIns="0" rtlCol="0" anchor="ctr"/>
          <a:lstStyle/>
          <a:p>
            <a:pPr indent="0" marL="0">
              <a:buNone/>
            </a:pPr>
            <a:r>
              <a:rPr lang="en-US" sz="2400" b="1" dirty="0">
                <a:solidFill>
                  <a:schemeClr val="bg1"/>
                </a:solidFill>
              </a:rPr>
              <a:t>FileJet</a:t>
            </a:r>
            <a:endParaRPr lang="en-US" sz="2400" dirty="0"/>
          </a:p>
        </p:txBody>
      </p:sp>
      <p:sp>
        <p:nvSpPr>
          <p:cNvPr id="5" name="Text 0"/>
          <p:cNvSpPr/>
          <p:nvPr>
            <p:ph idx="100" type="title" hasCustomPrompt="1"/>
          </p:nvPr>
        </p:nvSpPr>
        <p:spPr>
          <a:xfrm>
            <a:off x="548640" y="1417320"/>
            <a:ext cx="8046720" cy="1097280"/>
          </a:xfrm>
          <a:prstGeom prst="rect">
            <a:avLst/>
          </a:prstGeom>
          <a:noFill/>
          <a:ln/>
        </p:spPr>
        <p:txBody>
          <a:bodyPr wrap="square" lIns="0" tIns="0" rIns="0" bIns="0" rtlCol="0" anchor="b"/>
          <a:lstStyle/>
          <a:p>
            <a:pPr algn="l" indent="0" marL="0">
              <a:buNone/>
            </a:pPr>
            <a:r>
              <a:rPr lang="en-US" sz="4000" b="1" dirty="0">
                <a:solidFill>
                  <a:schemeClr val="bg1"/>
                </a:solidFill>
              </a:rPr>
              <a:t>Send any file, any size, straight into the right folder</a:t>
            </a:r>
            <a:endParaRPr lang="en-US" sz="4000" dirty="0"/>
          </a:p>
        </p:txBody>
      </p:sp>
      <p:sp>
        <p:nvSpPr>
          <p:cNvPr id="6" name="Text 0"/>
          <p:cNvSpPr/>
          <p:nvPr>
            <p:ph idx="101" type="body" hasCustomPrompt="1"/>
          </p:nvPr>
        </p:nvSpPr>
        <p:spPr>
          <a:xfrm>
            <a:off x="548640" y="2651760"/>
            <a:ext cx="6949440" cy="914400"/>
          </a:xfrm>
          <a:prstGeom prst="rect">
            <a:avLst/>
          </a:prstGeom>
          <a:noFill/>
          <a:ln/>
        </p:spPr>
        <p:txBody>
          <a:bodyPr wrap="square" lIns="0" tIns="0" rIns="0" bIns="0" rtlCol="0" anchor="t"/>
          <a:lstStyle/>
          <a:p>
            <a:pPr indent="0" marL="0">
              <a:buNone/>
            </a:pPr>
            <a:r>
              <a:rPr lang="en-US" sz="1800" dirty="0">
                <a:solidFill>
                  <a:schemeClr val="bg2"/>
                </a:solidFill>
              </a:rPr>
              <a:t>Secure folder sharing and large-file delivery directly between computers - no cloud storage, no size cap, full control over who does what.</a:t>
            </a:r>
            <a:endParaRPr lang="en-US" sz="1800" dirty="0"/>
          </a:p>
        </p:txBody>
      </p:sp>
      <p:sp>
        <p:nvSpPr>
          <p:cNvPr id="7" name="Pillars"/>
          <p:cNvSpPr txBox="1"/>
          <p:nvPr/>
        </p:nvSpPr>
        <p:spPr>
          <a:xfrm>
            <a:off x="548640" y="4160520"/>
            <a:ext cx="8046720" cy="365760"/>
          </a:xfrm>
          <a:prstGeom prst="rect">
            <a:avLst/>
          </a:prstGeom>
          <a:noFill/>
          <a:ln/>
        </p:spPr>
        <p:txBody>
          <a:bodyPr wrap="square" lIns="0" tIns="0" rIns="0" bIns="0" rtlCol="0" anchor="ctr"/>
          <a:lstStyle/>
          <a:p>
            <a:pPr indent="0" marL="0">
              <a:buNone/>
            </a:pPr>
            <a:r>
              <a:rPr lang="en-US" sz="1400" b="1" dirty="0">
                <a:solidFill>
                  <a:schemeClr val="accent1"/>
                </a:solidFill>
              </a:rPr>
              <a:t>Direct P2P</a:t>
            </a:r>
            <a:pPr indent="0" marL="0">
              <a:buNone/>
            </a:pPr>
            <a:r>
              <a:rPr lang="en-US" sz="1400" dirty="0">
                <a:solidFill>
                  <a:schemeClr val="tx2"/>
                </a:solidFill>
              </a:rPr>
              <a:t>   ·   </a:t>
            </a:r>
            <a:pPr indent="0" marL="0">
              <a:buNone/>
            </a:pPr>
            <a:r>
              <a:rPr lang="en-US" sz="1400" b="1" dirty="0">
                <a:solidFill>
                  <a:schemeClr val="accent2"/>
                </a:solidFill>
              </a:rPr>
              <a:t>Metadata-only cloud</a:t>
            </a:r>
            <a:pPr indent="0" marL="0">
              <a:buNone/>
            </a:pPr>
            <a:r>
              <a:rPr lang="en-US" sz="1400" dirty="0">
                <a:solidFill>
                  <a:schemeClr val="tx2"/>
                </a:solidFill>
              </a:rPr>
              <a:t>   ·   </a:t>
            </a:r>
            <a:pPr indent="0" marL="0">
              <a:buNone/>
            </a:pPr>
            <a:r>
              <a:rPr lang="en-US" sz="1400" b="1" dirty="0">
                <a:solidFill>
                  <a:schemeClr val="accent4"/>
                </a:solidFill>
              </a:rPr>
              <a:t>Per-person permissions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What FileJet is for</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One desktop app to share folders and deliver big files - the data never touches a cloud server</a:t>
            </a:r>
            <a:endParaRPr lang="en-US" sz="1400" dirty="0"/>
          </a:p>
        </p:txBody>
      </p:sp>
      <p:sp>
        <p:nvSpPr>
          <p:cNvPr id="4" name="Pillar 1"/>
          <p:cNvSpPr/>
          <p:nvPr/>
        </p:nvSpPr>
        <p:spPr>
          <a:xfrm>
            <a:off x="457200" y="1417320"/>
            <a:ext cx="2596896" cy="2011680"/>
          </a:xfrm>
          <a:prstGeom prst="roundRect">
            <a:avLst>
              <a:gd name="adj" fmla="val 3636"/>
            </a:avLst>
          </a:prstGeom>
          <a:solidFill>
            <a:schemeClr val="bg2"/>
          </a:solidFill>
          <a:ln/>
        </p:spPr>
      </p:sp>
      <p:sp>
        <p:nvSpPr>
          <p:cNvPr id="5" name="Pillar 1 circle"/>
          <p:cNvSpPr/>
          <p:nvPr/>
        </p:nvSpPr>
        <p:spPr>
          <a:xfrm>
            <a:off x="640080" y="1600200"/>
            <a:ext cx="457200" cy="457200"/>
          </a:xfrm>
          <a:prstGeom prst="ellipse">
            <a:avLst/>
          </a:prstGeom>
          <a:solidFill>
            <a:schemeClr val="accent1"/>
          </a:solidFill>
          <a:ln/>
        </p:spPr>
      </p:sp>
      <p:pic>
        <p:nvPicPr>
          <p:cNvPr id="6" name="Pillar 1 icon" descr="preencoded.png">    </p:cNvPr>
          <p:cNvPicPr>
            <a:picLocks noChangeAspect="1"/>
          </p:cNvPicPr>
          <p:nvPr/>
        </p:nvPicPr>
        <p:blipFill>
          <a:blip r:embed="rId1"/>
          <a:stretch>
            <a:fillRect/>
          </a:stretch>
        </p:blipFill>
        <p:spPr>
          <a:xfrm>
            <a:off x="749808" y="1709928"/>
            <a:ext cx="237744" cy="237744"/>
          </a:xfrm>
          <a:prstGeom prst="rect">
            <a:avLst/>
          </a:prstGeom>
        </p:spPr>
      </p:pic>
      <p:sp>
        <p:nvSpPr>
          <p:cNvPr id="7" name="Pillar 1 heading"/>
          <p:cNvSpPr txBox="1"/>
          <p:nvPr/>
        </p:nvSpPr>
        <p:spPr>
          <a:xfrm>
            <a:off x="1234440" y="16002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Direct delivery</a:t>
            </a:r>
            <a:endParaRPr lang="en-US" sz="1500" dirty="0"/>
          </a:p>
        </p:txBody>
      </p:sp>
      <p:sp>
        <p:nvSpPr>
          <p:cNvPr id="8" name="Pillar 1 text"/>
          <p:cNvSpPr txBox="1"/>
          <p:nvPr/>
        </p:nvSpPr>
        <p:spPr>
          <a:xfrm>
            <a:off x="640080" y="2167128"/>
            <a:ext cx="2231136" cy="1143000"/>
          </a:xfrm>
          <a:prstGeom prst="rect">
            <a:avLst/>
          </a:prstGeom>
          <a:noFill/>
          <a:ln/>
        </p:spPr>
        <p:txBody>
          <a:bodyPr wrap="square" lIns="0" tIns="0" rIns="0" bIns="0" rtlCol="0" anchor="t"/>
          <a:lstStyle/>
          <a:p>
            <a:pPr indent="0" marL="0">
              <a:buNone/>
            </a:pPr>
            <a:r>
              <a:rPr lang="en-US" sz="1200" dirty="0">
                <a:solidFill>
                  <a:schemeClr val="tx2"/>
                </a:solidFill>
              </a:rPr>
              <a:t>Files go straight from the sender's PC into the owner's folder on their own disk or NAS, over TLS 1.3 with parallel streams.</a:t>
            </a:r>
            <a:endParaRPr lang="en-US" sz="1200" dirty="0"/>
          </a:p>
        </p:txBody>
      </p:sp>
      <p:sp>
        <p:nvSpPr>
          <p:cNvPr id="9" name="Pillar 2"/>
          <p:cNvSpPr/>
          <p:nvPr/>
        </p:nvSpPr>
        <p:spPr>
          <a:xfrm>
            <a:off x="3273552" y="1417320"/>
            <a:ext cx="2596896" cy="2011680"/>
          </a:xfrm>
          <a:prstGeom prst="roundRect">
            <a:avLst>
              <a:gd name="adj" fmla="val 3636"/>
            </a:avLst>
          </a:prstGeom>
          <a:solidFill>
            <a:schemeClr val="bg2"/>
          </a:solidFill>
          <a:ln/>
        </p:spPr>
      </p:sp>
      <p:sp>
        <p:nvSpPr>
          <p:cNvPr id="10" name="Pillar 2 circle"/>
          <p:cNvSpPr/>
          <p:nvPr/>
        </p:nvSpPr>
        <p:spPr>
          <a:xfrm>
            <a:off x="3456432" y="1600200"/>
            <a:ext cx="457200" cy="457200"/>
          </a:xfrm>
          <a:prstGeom prst="ellipse">
            <a:avLst/>
          </a:prstGeom>
          <a:solidFill>
            <a:schemeClr val="accent2"/>
          </a:solidFill>
          <a:ln/>
        </p:spPr>
      </p:sp>
      <p:pic>
        <p:nvPicPr>
          <p:cNvPr id="11" name="Pillar 2 icon" descr="preencoded.png">    </p:cNvPr>
          <p:cNvPicPr>
            <a:picLocks noChangeAspect="1"/>
          </p:cNvPicPr>
          <p:nvPr/>
        </p:nvPicPr>
        <p:blipFill>
          <a:blip r:embed="rId2"/>
          <a:stretch>
            <a:fillRect/>
          </a:stretch>
        </p:blipFill>
        <p:spPr>
          <a:xfrm>
            <a:off x="3566160" y="1709928"/>
            <a:ext cx="237744" cy="237744"/>
          </a:xfrm>
          <a:prstGeom prst="rect">
            <a:avLst/>
          </a:prstGeom>
        </p:spPr>
      </p:pic>
      <p:sp>
        <p:nvSpPr>
          <p:cNvPr id="12" name="Pillar 2 heading"/>
          <p:cNvSpPr txBox="1"/>
          <p:nvPr/>
        </p:nvSpPr>
        <p:spPr>
          <a:xfrm>
            <a:off x="4050792" y="16002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Shared folders</a:t>
            </a:r>
            <a:endParaRPr lang="en-US" sz="1500" dirty="0"/>
          </a:p>
        </p:txBody>
      </p:sp>
      <p:sp>
        <p:nvSpPr>
          <p:cNvPr id="13" name="Pillar 2 text"/>
          <p:cNvSpPr txBox="1"/>
          <p:nvPr/>
        </p:nvSpPr>
        <p:spPr>
          <a:xfrm>
            <a:off x="3456432" y="2167128"/>
            <a:ext cx="2231136" cy="1143000"/>
          </a:xfrm>
          <a:prstGeom prst="rect">
            <a:avLst/>
          </a:prstGeom>
          <a:noFill/>
          <a:ln/>
        </p:spPr>
        <p:txBody>
          <a:bodyPr wrap="square" lIns="0" tIns="0" rIns="0" bIns="0" rtlCol="0" anchor="t"/>
          <a:lstStyle/>
          <a:p>
            <a:pPr indent="0" marL="0">
              <a:buNone/>
            </a:pPr>
            <a:r>
              <a:rPr lang="en-US" sz="1200" dirty="0">
                <a:solidFill>
                  <a:schemeClr val="tx2"/>
                </a:solidFill>
              </a:rPr>
              <a:t>Share a folder with people by their 9-digit ID. Each person gets exactly the rights you choose - upload, view, edit, delete.</a:t>
            </a:r>
            <a:endParaRPr lang="en-US" sz="1200" dirty="0"/>
          </a:p>
        </p:txBody>
      </p:sp>
      <p:sp>
        <p:nvSpPr>
          <p:cNvPr id="14" name="Pillar 3"/>
          <p:cNvSpPr/>
          <p:nvPr/>
        </p:nvSpPr>
        <p:spPr>
          <a:xfrm>
            <a:off x="6089904" y="1417320"/>
            <a:ext cx="2596896" cy="2011680"/>
          </a:xfrm>
          <a:prstGeom prst="roundRect">
            <a:avLst>
              <a:gd name="adj" fmla="val 3636"/>
            </a:avLst>
          </a:prstGeom>
          <a:solidFill>
            <a:schemeClr val="bg2"/>
          </a:solidFill>
          <a:ln/>
        </p:spPr>
      </p:sp>
      <p:sp>
        <p:nvSpPr>
          <p:cNvPr id="15" name="Pillar 3 circle"/>
          <p:cNvSpPr/>
          <p:nvPr/>
        </p:nvSpPr>
        <p:spPr>
          <a:xfrm>
            <a:off x="6272784" y="1600200"/>
            <a:ext cx="457200" cy="457200"/>
          </a:xfrm>
          <a:prstGeom prst="ellipse">
            <a:avLst/>
          </a:prstGeom>
          <a:solidFill>
            <a:schemeClr val="accent3"/>
          </a:solidFill>
          <a:ln/>
        </p:spPr>
      </p:sp>
      <p:pic>
        <p:nvPicPr>
          <p:cNvPr id="16" name="Pillar 3 icon" descr="preencoded.png">    </p:cNvPr>
          <p:cNvPicPr>
            <a:picLocks noChangeAspect="1"/>
          </p:cNvPicPr>
          <p:nvPr/>
        </p:nvPicPr>
        <p:blipFill>
          <a:blip r:embed="rId3"/>
          <a:stretch>
            <a:fillRect/>
          </a:stretch>
        </p:blipFill>
        <p:spPr>
          <a:xfrm>
            <a:off x="6382512" y="1709928"/>
            <a:ext cx="237744" cy="237744"/>
          </a:xfrm>
          <a:prstGeom prst="rect">
            <a:avLst/>
          </a:prstGeom>
        </p:spPr>
      </p:pic>
      <p:sp>
        <p:nvSpPr>
          <p:cNvPr id="17" name="Pillar 3 heading"/>
          <p:cNvSpPr txBox="1"/>
          <p:nvPr/>
        </p:nvSpPr>
        <p:spPr>
          <a:xfrm>
            <a:off x="6867144" y="16002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Metadata-only cloud</a:t>
            </a:r>
            <a:endParaRPr lang="en-US" sz="1500" dirty="0"/>
          </a:p>
        </p:txBody>
      </p:sp>
      <p:sp>
        <p:nvSpPr>
          <p:cNvPr id="18" name="Pillar 3 text"/>
          <p:cNvSpPr txBox="1"/>
          <p:nvPr/>
        </p:nvSpPr>
        <p:spPr>
          <a:xfrm>
            <a:off x="6272784" y="2167128"/>
            <a:ext cx="2231136" cy="1143000"/>
          </a:xfrm>
          <a:prstGeom prst="rect">
            <a:avLst/>
          </a:prstGeom>
          <a:noFill/>
          <a:ln/>
        </p:spPr>
        <p:txBody>
          <a:bodyPr wrap="square" lIns="0" tIns="0" rIns="0" bIns="0" rtlCol="0" anchor="t"/>
          <a:lstStyle/>
          <a:p>
            <a:pPr indent="0" marL="0">
              <a:buNone/>
            </a:pPr>
            <a:r>
              <a:rPr lang="en-US" sz="1200" dirty="0">
                <a:solidFill>
                  <a:schemeClr val="tx2"/>
                </a:solidFill>
              </a:rPr>
              <a:t>The cloud keeps who sent what, when, the size and status. Never file contents, local paths or form values.</a:t>
            </a:r>
            <a:endParaRPr lang="en-US" sz="1200" dirty="0"/>
          </a:p>
        </p:txBody>
      </p:sp>
      <p:sp>
        <p:nvSpPr>
          <p:cNvPr id="19" name="Example band"/>
          <p:cNvSpPr/>
          <p:nvPr/>
        </p:nvSpPr>
        <p:spPr>
          <a:xfrm>
            <a:off x="457200" y="3703320"/>
            <a:ext cx="8229600" cy="822960"/>
          </a:xfrm>
          <a:prstGeom prst="roundRect">
            <a:avLst>
              <a:gd name="adj" fmla="val 8889"/>
            </a:avLst>
          </a:prstGeom>
          <a:solidFill>
            <a:schemeClr val="bg2"/>
          </a:solidFill>
          <a:ln/>
        </p:spPr>
      </p:sp>
      <p:sp>
        <p:nvSpPr>
          <p:cNvPr id="20" name="Example text"/>
          <p:cNvSpPr txBox="1"/>
          <p:nvPr/>
        </p:nvSpPr>
        <p:spPr>
          <a:xfrm>
            <a:off x="685800" y="3749040"/>
            <a:ext cx="7772400" cy="731520"/>
          </a:xfrm>
          <a:prstGeom prst="rect">
            <a:avLst/>
          </a:prstGeom>
          <a:noFill/>
          <a:ln/>
        </p:spPr>
        <p:txBody>
          <a:bodyPr wrap="square" lIns="0" tIns="0" rIns="0" bIns="0" rtlCol="0" anchor="ctr"/>
          <a:lstStyle/>
          <a:p>
            <a:pPr indent="0" marL="0">
              <a:buNone/>
            </a:pPr>
            <a:r>
              <a:rPr lang="en-US" sz="1300" b="1" dirty="0">
                <a:solidFill>
                  <a:schemeClr val="tx1"/>
                </a:solidFill>
              </a:rPr>
              <a:t>Example: </a:t>
            </a:r>
            <a:pPr indent="0" marL="0">
              <a:buNone/>
            </a:pPr>
            <a:r>
              <a:rPr lang="en-US" sz="1300" dirty="0">
                <a:solidFill>
                  <a:schemeClr val="tx2"/>
                </a:solidFill>
              </a:rPr>
              <a:t>a studio shares "Movie Project" with three editors. Two may upload, one may also download, rename and delete. Footage lands on the studio's own storage at full line speed, and the web dashboard shows only names, sizes, times and status.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The problem with today's tools</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Teams that move large or sensitive files keep hitting the same walls</a:t>
            </a:r>
            <a:endParaRPr lang="en-US" sz="1400" dirty="0"/>
          </a:p>
        </p:txBody>
      </p:sp>
      <p:sp>
        <p:nvSpPr>
          <p:cNvPr id="4" name="Problem 1"/>
          <p:cNvSpPr/>
          <p:nvPr/>
        </p:nvSpPr>
        <p:spPr>
          <a:xfrm>
            <a:off x="457200" y="1417320"/>
            <a:ext cx="1920240" cy="3063240"/>
          </a:xfrm>
          <a:prstGeom prst="roundRect">
            <a:avLst>
              <a:gd name="adj" fmla="val 3810"/>
            </a:avLst>
          </a:prstGeom>
          <a:solidFill>
            <a:schemeClr val="bg2"/>
          </a:solidFill>
          <a:ln/>
        </p:spPr>
      </p:sp>
      <p:sp>
        <p:nvSpPr>
          <p:cNvPr id="5" name="Problem stat 1"/>
          <p:cNvSpPr txBox="1"/>
          <p:nvPr/>
        </p:nvSpPr>
        <p:spPr>
          <a:xfrm>
            <a:off x="640080" y="1554480"/>
            <a:ext cx="1554480" cy="822960"/>
          </a:xfrm>
          <a:prstGeom prst="rect">
            <a:avLst/>
          </a:prstGeom>
          <a:noFill/>
          <a:ln/>
        </p:spPr>
        <p:txBody>
          <a:bodyPr wrap="square" lIns="0" tIns="0" rIns="0" bIns="0" rtlCol="0" anchor="ctr"/>
          <a:lstStyle/>
          <a:p>
            <a:pPr indent="0" marL="0">
              <a:buNone/>
            </a:pPr>
            <a:r>
              <a:rPr lang="en-US" sz="4400" b="1" dirty="0">
                <a:solidFill>
                  <a:schemeClr val="accent6"/>
                </a:solidFill>
              </a:rPr>
              <a:t>2×</a:t>
            </a:r>
            <a:endParaRPr lang="en-US" sz="4400" dirty="0"/>
          </a:p>
        </p:txBody>
      </p:sp>
      <p:sp>
        <p:nvSpPr>
          <p:cNvPr id="6" name="Problem head 1"/>
          <p:cNvSpPr txBox="1"/>
          <p:nvPr/>
        </p:nvSpPr>
        <p:spPr>
          <a:xfrm>
            <a:off x="640080" y="2468880"/>
            <a:ext cx="1554480" cy="411480"/>
          </a:xfrm>
          <a:prstGeom prst="rect">
            <a:avLst/>
          </a:prstGeom>
          <a:noFill/>
          <a:ln/>
        </p:spPr>
        <p:txBody>
          <a:bodyPr wrap="square" lIns="0" tIns="0" rIns="0" bIns="0" rtlCol="0" anchor="ctr"/>
          <a:lstStyle/>
          <a:p>
            <a:pPr indent="0" marL="0">
              <a:buNone/>
            </a:pPr>
            <a:r>
              <a:rPr lang="en-US" sz="1600" b="1" dirty="0">
                <a:solidFill>
                  <a:schemeClr val="tx1"/>
                </a:solidFill>
              </a:rPr>
              <a:t>Double wait</a:t>
            </a:r>
            <a:endParaRPr lang="en-US" sz="1600" dirty="0"/>
          </a:p>
        </p:txBody>
      </p:sp>
      <p:sp>
        <p:nvSpPr>
          <p:cNvPr id="7" name="Problem text 1"/>
          <p:cNvSpPr txBox="1"/>
          <p:nvPr/>
        </p:nvSpPr>
        <p:spPr>
          <a:xfrm>
            <a:off x="640080" y="2926080"/>
            <a:ext cx="1554480" cy="1371600"/>
          </a:xfrm>
          <a:prstGeom prst="rect">
            <a:avLst/>
          </a:prstGeom>
          <a:noFill/>
          <a:ln/>
        </p:spPr>
        <p:txBody>
          <a:bodyPr wrap="square" lIns="0" tIns="0" rIns="0" bIns="0" rtlCol="0" anchor="t"/>
          <a:lstStyle/>
          <a:p>
            <a:pPr indent="0" marL="0">
              <a:buNone/>
            </a:pPr>
            <a:r>
              <a:rPr lang="en-US" sz="1300" dirty="0">
                <a:solidFill>
                  <a:schemeClr val="tx2"/>
                </a:solidFill>
              </a:rPr>
              <a:t>Cloud tools upload everything first, then the receiver downloads it again.</a:t>
            </a:r>
            <a:endParaRPr lang="en-US" sz="1300" dirty="0"/>
          </a:p>
        </p:txBody>
      </p:sp>
      <p:sp>
        <p:nvSpPr>
          <p:cNvPr id="8" name="Problem 2"/>
          <p:cNvSpPr/>
          <p:nvPr/>
        </p:nvSpPr>
        <p:spPr>
          <a:xfrm>
            <a:off x="2569464" y="1417320"/>
            <a:ext cx="1920240" cy="3063240"/>
          </a:xfrm>
          <a:prstGeom prst="roundRect">
            <a:avLst>
              <a:gd name="adj" fmla="val 3810"/>
            </a:avLst>
          </a:prstGeom>
          <a:solidFill>
            <a:schemeClr val="bg2"/>
          </a:solidFill>
          <a:ln/>
        </p:spPr>
      </p:sp>
      <p:sp>
        <p:nvSpPr>
          <p:cNvPr id="9" name="Problem stat 2"/>
          <p:cNvSpPr txBox="1"/>
          <p:nvPr/>
        </p:nvSpPr>
        <p:spPr>
          <a:xfrm>
            <a:off x="2752344" y="1554480"/>
            <a:ext cx="1554480" cy="822960"/>
          </a:xfrm>
          <a:prstGeom prst="rect">
            <a:avLst/>
          </a:prstGeom>
          <a:noFill/>
          <a:ln/>
        </p:spPr>
        <p:txBody>
          <a:bodyPr wrap="square" lIns="0" tIns="0" rIns="0" bIns="0" rtlCol="0" anchor="ctr"/>
          <a:lstStyle/>
          <a:p>
            <a:pPr indent="0" marL="0">
              <a:buNone/>
            </a:pPr>
            <a:r>
              <a:rPr lang="en-US" sz="4400" b="1" dirty="0">
                <a:solidFill>
                  <a:schemeClr val="accent6"/>
                </a:solidFill>
              </a:rPr>
              <a:t>$</a:t>
            </a:r>
            <a:endParaRPr lang="en-US" sz="4400" dirty="0"/>
          </a:p>
        </p:txBody>
      </p:sp>
      <p:sp>
        <p:nvSpPr>
          <p:cNvPr id="10" name="Problem head 2"/>
          <p:cNvSpPr txBox="1"/>
          <p:nvPr/>
        </p:nvSpPr>
        <p:spPr>
          <a:xfrm>
            <a:off x="2752344" y="2468880"/>
            <a:ext cx="1554480" cy="411480"/>
          </a:xfrm>
          <a:prstGeom prst="rect">
            <a:avLst/>
          </a:prstGeom>
          <a:noFill/>
          <a:ln/>
        </p:spPr>
        <p:txBody>
          <a:bodyPr wrap="square" lIns="0" tIns="0" rIns="0" bIns="0" rtlCol="0" anchor="ctr"/>
          <a:lstStyle/>
          <a:p>
            <a:pPr indent="0" marL="0">
              <a:buNone/>
            </a:pPr>
            <a:r>
              <a:rPr lang="en-US" sz="1600" b="1" dirty="0">
                <a:solidFill>
                  <a:schemeClr val="tx1"/>
                </a:solidFill>
              </a:rPr>
              <a:t>Storage bills</a:t>
            </a:r>
            <a:endParaRPr lang="en-US" sz="1600" dirty="0"/>
          </a:p>
        </p:txBody>
      </p:sp>
      <p:sp>
        <p:nvSpPr>
          <p:cNvPr id="11" name="Problem text 2"/>
          <p:cNvSpPr txBox="1"/>
          <p:nvPr/>
        </p:nvSpPr>
        <p:spPr>
          <a:xfrm>
            <a:off x="2752344" y="2926080"/>
            <a:ext cx="1554480" cy="1371600"/>
          </a:xfrm>
          <a:prstGeom prst="rect">
            <a:avLst/>
          </a:prstGeom>
          <a:noFill/>
          <a:ln/>
        </p:spPr>
        <p:txBody>
          <a:bodyPr wrap="square" lIns="0" tIns="0" rIns="0" bIns="0" rtlCol="0" anchor="t"/>
          <a:lstStyle/>
          <a:p>
            <a:pPr indent="0" marL="0">
              <a:buNone/>
            </a:pPr>
            <a:r>
              <a:rPr lang="en-US" sz="1300" dirty="0">
                <a:solidFill>
                  <a:schemeClr val="tx2"/>
                </a:solidFill>
              </a:rPr>
              <a:t>Paying per TB to park files that only need to travel from A to B.</a:t>
            </a:r>
            <a:endParaRPr lang="en-US" sz="1300" dirty="0"/>
          </a:p>
        </p:txBody>
      </p:sp>
      <p:sp>
        <p:nvSpPr>
          <p:cNvPr id="12" name="Problem 3"/>
          <p:cNvSpPr/>
          <p:nvPr/>
        </p:nvSpPr>
        <p:spPr>
          <a:xfrm>
            <a:off x="4681728" y="1417320"/>
            <a:ext cx="1920240" cy="3063240"/>
          </a:xfrm>
          <a:prstGeom prst="roundRect">
            <a:avLst>
              <a:gd name="adj" fmla="val 3810"/>
            </a:avLst>
          </a:prstGeom>
          <a:solidFill>
            <a:schemeClr val="bg2"/>
          </a:solidFill>
          <a:ln/>
        </p:spPr>
      </p:sp>
      <p:sp>
        <p:nvSpPr>
          <p:cNvPr id="13" name="Problem stat 3"/>
          <p:cNvSpPr txBox="1"/>
          <p:nvPr/>
        </p:nvSpPr>
        <p:spPr>
          <a:xfrm>
            <a:off x="4864608" y="1554480"/>
            <a:ext cx="1554480" cy="822960"/>
          </a:xfrm>
          <a:prstGeom prst="rect">
            <a:avLst/>
          </a:prstGeom>
          <a:noFill/>
          <a:ln/>
        </p:spPr>
        <p:txBody>
          <a:bodyPr wrap="square" lIns="0" tIns="0" rIns="0" bIns="0" rtlCol="0" anchor="ctr"/>
          <a:lstStyle/>
          <a:p>
            <a:pPr indent="0" marL="0">
              <a:buNone/>
            </a:pPr>
            <a:r>
              <a:rPr lang="en-US" sz="4400" b="1" dirty="0">
                <a:solidFill>
                  <a:schemeClr val="accent6"/>
                </a:solidFill>
              </a:rPr>
              <a:t>+1</a:t>
            </a:r>
            <a:endParaRPr lang="en-US" sz="4400" dirty="0"/>
          </a:p>
        </p:txBody>
      </p:sp>
      <p:sp>
        <p:nvSpPr>
          <p:cNvPr id="14" name="Problem head 3"/>
          <p:cNvSpPr txBox="1"/>
          <p:nvPr/>
        </p:nvSpPr>
        <p:spPr>
          <a:xfrm>
            <a:off x="4864608" y="2468880"/>
            <a:ext cx="1554480" cy="411480"/>
          </a:xfrm>
          <a:prstGeom prst="rect">
            <a:avLst/>
          </a:prstGeom>
          <a:noFill/>
          <a:ln/>
        </p:spPr>
        <p:txBody>
          <a:bodyPr wrap="square" lIns="0" tIns="0" rIns="0" bIns="0" rtlCol="0" anchor="ctr"/>
          <a:lstStyle/>
          <a:p>
            <a:pPr indent="0" marL="0">
              <a:buNone/>
            </a:pPr>
            <a:r>
              <a:rPr lang="en-US" sz="1600" b="1" dirty="0">
                <a:solidFill>
                  <a:schemeClr val="tx1"/>
                </a:solidFill>
              </a:rPr>
              <a:t>Extra copy</a:t>
            </a:r>
            <a:endParaRPr lang="en-US" sz="1600" dirty="0"/>
          </a:p>
        </p:txBody>
      </p:sp>
      <p:sp>
        <p:nvSpPr>
          <p:cNvPr id="15" name="Problem text 3"/>
          <p:cNvSpPr txBox="1"/>
          <p:nvPr/>
        </p:nvSpPr>
        <p:spPr>
          <a:xfrm>
            <a:off x="4864608" y="2926080"/>
            <a:ext cx="1554480" cy="1371600"/>
          </a:xfrm>
          <a:prstGeom prst="rect">
            <a:avLst/>
          </a:prstGeom>
          <a:noFill/>
          <a:ln/>
        </p:spPr>
        <p:txBody>
          <a:bodyPr wrap="square" lIns="0" tIns="0" rIns="0" bIns="0" rtlCol="0" anchor="t"/>
          <a:lstStyle/>
          <a:p>
            <a:pPr indent="0" marL="0">
              <a:buNone/>
            </a:pPr>
            <a:r>
              <a:rPr lang="en-US" sz="1300" dirty="0">
                <a:solidFill>
                  <a:schemeClr val="tx2"/>
                </a:solidFill>
              </a:rPr>
              <a:t>Sensitive files sit on someone else's servers, often longer than needed.</a:t>
            </a:r>
            <a:endParaRPr lang="en-US" sz="1300" dirty="0"/>
          </a:p>
        </p:txBody>
      </p:sp>
      <p:sp>
        <p:nvSpPr>
          <p:cNvPr id="16" name="Problem 4"/>
          <p:cNvSpPr/>
          <p:nvPr/>
        </p:nvSpPr>
        <p:spPr>
          <a:xfrm>
            <a:off x="6793992" y="1417320"/>
            <a:ext cx="1920240" cy="3063240"/>
          </a:xfrm>
          <a:prstGeom prst="roundRect">
            <a:avLst>
              <a:gd name="adj" fmla="val 3810"/>
            </a:avLst>
          </a:prstGeom>
          <a:solidFill>
            <a:schemeClr val="bg2"/>
          </a:solidFill>
          <a:ln/>
        </p:spPr>
      </p:sp>
      <p:sp>
        <p:nvSpPr>
          <p:cNvPr id="17" name="Problem stat 4"/>
          <p:cNvSpPr txBox="1"/>
          <p:nvPr/>
        </p:nvSpPr>
        <p:spPr>
          <a:xfrm>
            <a:off x="6976872" y="1554480"/>
            <a:ext cx="1554480" cy="822960"/>
          </a:xfrm>
          <a:prstGeom prst="rect">
            <a:avLst/>
          </a:prstGeom>
          <a:noFill/>
          <a:ln/>
        </p:spPr>
        <p:txBody>
          <a:bodyPr wrap="square" lIns="0" tIns="0" rIns="0" bIns="0" rtlCol="0" anchor="ctr"/>
          <a:lstStyle/>
          <a:p>
            <a:pPr indent="0" marL="0">
              <a:buNone/>
            </a:pPr>
            <a:r>
              <a:rPr lang="en-US" sz="4400" b="1" dirty="0">
                <a:solidFill>
                  <a:schemeClr val="accent6"/>
                </a:solidFill>
              </a:rPr>
              <a:t>0%</a:t>
            </a:r>
            <a:endParaRPr lang="en-US" sz="4400" dirty="0"/>
          </a:p>
        </p:txBody>
      </p:sp>
      <p:sp>
        <p:nvSpPr>
          <p:cNvPr id="18" name="Problem head 4"/>
          <p:cNvSpPr txBox="1"/>
          <p:nvPr/>
        </p:nvSpPr>
        <p:spPr>
          <a:xfrm>
            <a:off x="6976872" y="2468880"/>
            <a:ext cx="1554480" cy="411480"/>
          </a:xfrm>
          <a:prstGeom prst="rect">
            <a:avLst/>
          </a:prstGeom>
          <a:noFill/>
          <a:ln/>
        </p:spPr>
        <p:txBody>
          <a:bodyPr wrap="square" lIns="0" tIns="0" rIns="0" bIns="0" rtlCol="0" anchor="ctr"/>
          <a:lstStyle/>
          <a:p>
            <a:pPr indent="0" marL="0">
              <a:buNone/>
            </a:pPr>
            <a:r>
              <a:rPr lang="en-US" sz="1600" b="1" dirty="0">
                <a:solidFill>
                  <a:schemeClr val="tx1"/>
                </a:solidFill>
              </a:rPr>
              <a:t>Restart from zero</a:t>
            </a:r>
            <a:endParaRPr lang="en-US" sz="1600" dirty="0"/>
          </a:p>
        </p:txBody>
      </p:sp>
      <p:sp>
        <p:nvSpPr>
          <p:cNvPr id="19" name="Problem text 4"/>
          <p:cNvSpPr txBox="1"/>
          <p:nvPr/>
        </p:nvSpPr>
        <p:spPr>
          <a:xfrm>
            <a:off x="6976872" y="2926080"/>
            <a:ext cx="1554480" cy="1371600"/>
          </a:xfrm>
          <a:prstGeom prst="rect">
            <a:avLst/>
          </a:prstGeom>
          <a:noFill/>
          <a:ln/>
        </p:spPr>
        <p:txBody>
          <a:bodyPr wrap="square" lIns="0" tIns="0" rIns="0" bIns="0" rtlCol="0" anchor="t"/>
          <a:lstStyle/>
          <a:p>
            <a:pPr indent="0" marL="0">
              <a:buNone/>
            </a:pPr>
            <a:r>
              <a:rPr lang="en-US" sz="1300" dirty="0">
                <a:solidFill>
                  <a:schemeClr val="tx2"/>
                </a:solidFill>
              </a:rPr>
              <a:t>A dropped link or power cut can mean re-sending a 50 GB file from the start.</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How FileJet works</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The cloud coordinates; the file data travels one hop, computer to computer</a:t>
            </a:r>
            <a:endParaRPr lang="en-US" sz="1400" dirty="0"/>
          </a:p>
        </p:txBody>
      </p:sp>
      <p:sp>
        <p:nvSpPr>
          <p:cNvPr id="4" name="Cloud box"/>
          <p:cNvSpPr/>
          <p:nvPr/>
        </p:nvSpPr>
        <p:spPr>
          <a:xfrm>
            <a:off x="2514600" y="1325880"/>
            <a:ext cx="4114800" cy="914400"/>
          </a:xfrm>
          <a:prstGeom prst="roundRect">
            <a:avLst>
              <a:gd name="adj" fmla="val 8000"/>
            </a:avLst>
          </a:prstGeom>
          <a:solidFill>
            <a:schemeClr val="bg2"/>
          </a:solidFill>
          <a:ln/>
        </p:spPr>
      </p:sp>
      <p:pic>
        <p:nvPicPr>
          <p:cNvPr id="5" name="Cloud icon" descr="preencoded.png">    </p:cNvPr>
          <p:cNvPicPr>
            <a:picLocks noChangeAspect="1"/>
          </p:cNvPicPr>
          <p:nvPr/>
        </p:nvPicPr>
        <p:blipFill>
          <a:blip r:embed="rId1"/>
          <a:stretch>
            <a:fillRect/>
          </a:stretch>
        </p:blipFill>
        <p:spPr>
          <a:xfrm>
            <a:off x="2697480" y="1508760"/>
            <a:ext cx="548640" cy="548640"/>
          </a:xfrm>
          <a:prstGeom prst="rect">
            <a:avLst/>
          </a:prstGeom>
        </p:spPr>
      </p:pic>
      <p:sp>
        <p:nvSpPr>
          <p:cNvPr id="6" name="Cloud text"/>
          <p:cNvSpPr txBox="1"/>
          <p:nvPr/>
        </p:nvSpPr>
        <p:spPr>
          <a:xfrm>
            <a:off x="3383280" y="1371600"/>
            <a:ext cx="3154680" cy="822960"/>
          </a:xfrm>
          <a:prstGeom prst="rect">
            <a:avLst/>
          </a:prstGeom>
          <a:noFill/>
          <a:ln/>
        </p:spPr>
        <p:txBody>
          <a:bodyPr wrap="square" lIns="0" tIns="0" rIns="0" bIns="0" rtlCol="0" anchor="ctr"/>
          <a:lstStyle/>
          <a:p>
            <a:pPr indent="0" marL="0">
              <a:buNone/>
            </a:pPr>
            <a:r>
              <a:rPr lang="en-US" sz="1400" b="1" dirty="0">
                <a:solidFill>
                  <a:schemeClr val="tx1"/>
                </a:solidFill>
              </a:rPr>
              <a:t>FileJet Cloud - metadata only</a:t>
            </a:r>
            <a:endParaRPr lang="en-US" sz="1400" dirty="0"/>
          </a:p>
          <a:p>
            <a:pPr indent="0" marL="0">
              <a:buNone/>
            </a:pPr>
            <a:r>
              <a:rPr lang="en-US" sz="1100" dirty="0">
                <a:solidFill>
                  <a:schemeClr val="tx2"/>
                </a:solidFill>
              </a:rPr>
              <a:t>Accounts · IDs · folders &amp; permissions · transfer records · e-mail</a:t>
            </a:r>
            <a:endParaRPr lang="en-US" sz="1400" dirty="0"/>
          </a:p>
        </p:txBody>
      </p:sp>
      <p:sp>
        <p:nvSpPr>
          <p:cNvPr id="7" name="PC 1"/>
          <p:cNvSpPr/>
          <p:nvPr/>
        </p:nvSpPr>
        <p:spPr>
          <a:xfrm>
            <a:off x="457200" y="2788920"/>
            <a:ext cx="2560320" cy="1600200"/>
          </a:xfrm>
          <a:prstGeom prst="roundRect">
            <a:avLst>
              <a:gd name="adj" fmla="val 4571"/>
            </a:avLst>
          </a:prstGeom>
          <a:solidFill>
            <a:schemeClr val="bg2"/>
          </a:solidFill>
          <a:ln/>
        </p:spPr>
      </p:sp>
      <p:pic>
        <p:nvPicPr>
          <p:cNvPr id="8" name="PC icon 1" descr="preencoded.png">    </p:cNvPr>
          <p:cNvPicPr>
            <a:picLocks noChangeAspect="1"/>
          </p:cNvPicPr>
          <p:nvPr/>
        </p:nvPicPr>
        <p:blipFill>
          <a:blip r:embed="rId2"/>
          <a:stretch>
            <a:fillRect/>
          </a:stretch>
        </p:blipFill>
        <p:spPr>
          <a:xfrm>
            <a:off x="640080" y="2926080"/>
            <a:ext cx="457200" cy="457200"/>
          </a:xfrm>
          <a:prstGeom prst="rect">
            <a:avLst/>
          </a:prstGeom>
        </p:spPr>
      </p:pic>
      <p:sp>
        <p:nvSpPr>
          <p:cNvPr id="9" name="PC head 1"/>
          <p:cNvSpPr txBox="1"/>
          <p:nvPr/>
        </p:nvSpPr>
        <p:spPr>
          <a:xfrm>
            <a:off x="1234440" y="292608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Sender's app</a:t>
            </a:r>
            <a:endParaRPr lang="en-US" sz="1500" dirty="0"/>
          </a:p>
        </p:txBody>
      </p:sp>
      <p:sp>
        <p:nvSpPr>
          <p:cNvPr id="10" name="PC text 1"/>
          <p:cNvSpPr txBox="1"/>
          <p:nvPr/>
        </p:nvSpPr>
        <p:spPr>
          <a:xfrm>
            <a:off x="640080" y="3474720"/>
            <a:ext cx="2240280" cy="822960"/>
          </a:xfrm>
          <a:prstGeom prst="rect">
            <a:avLst/>
          </a:prstGeom>
          <a:noFill/>
          <a:ln/>
        </p:spPr>
        <p:txBody>
          <a:bodyPr wrap="square" lIns="0" tIns="0" rIns="0" bIns="0" rtlCol="0" anchor="t"/>
          <a:lstStyle/>
          <a:p>
            <a:pPr indent="0" marL="0">
              <a:buNone/>
            </a:pPr>
            <a:r>
              <a:rPr lang="en-US" sz="1100" dirty="0">
                <a:solidFill>
                  <a:schemeClr val="tx2"/>
                </a:solidFill>
              </a:rPr>
              <a:t>Editor, client or field team</a:t>
            </a:r>
            <a:endParaRPr lang="en-US" sz="1100" dirty="0"/>
          </a:p>
          <a:p>
            <a:pPr indent="0" marL="0">
              <a:buNone/>
            </a:pPr>
            <a:r>
              <a:rPr lang="en-US" sz="1100" dirty="0">
                <a:solidFill>
                  <a:schemeClr val="tx2"/>
                </a:solidFill>
              </a:rPr>
              <a:t>Outbox keeps files if owner is offline</a:t>
            </a:r>
            <a:endParaRPr lang="en-US" sz="1100" dirty="0"/>
          </a:p>
        </p:txBody>
      </p:sp>
      <p:sp>
        <p:nvSpPr>
          <p:cNvPr id="11" name="PC 2"/>
          <p:cNvSpPr/>
          <p:nvPr/>
        </p:nvSpPr>
        <p:spPr>
          <a:xfrm>
            <a:off x="6126480" y="2788920"/>
            <a:ext cx="2560320" cy="1600200"/>
          </a:xfrm>
          <a:prstGeom prst="roundRect">
            <a:avLst>
              <a:gd name="adj" fmla="val 4571"/>
            </a:avLst>
          </a:prstGeom>
          <a:solidFill>
            <a:schemeClr val="bg2"/>
          </a:solidFill>
          <a:ln/>
        </p:spPr>
      </p:sp>
      <p:pic>
        <p:nvPicPr>
          <p:cNvPr id="12" name="PC icon 2" descr="preencoded.png">    </p:cNvPr>
          <p:cNvPicPr>
            <a:picLocks noChangeAspect="1"/>
          </p:cNvPicPr>
          <p:nvPr/>
        </p:nvPicPr>
        <p:blipFill>
          <a:blip r:embed="rId3"/>
          <a:stretch>
            <a:fillRect/>
          </a:stretch>
        </p:blipFill>
        <p:spPr>
          <a:xfrm>
            <a:off x="6309360" y="2926080"/>
            <a:ext cx="457200" cy="457200"/>
          </a:xfrm>
          <a:prstGeom prst="rect">
            <a:avLst/>
          </a:prstGeom>
        </p:spPr>
      </p:pic>
      <p:sp>
        <p:nvSpPr>
          <p:cNvPr id="13" name="PC head 2"/>
          <p:cNvSpPr txBox="1"/>
          <p:nvPr/>
        </p:nvSpPr>
        <p:spPr>
          <a:xfrm>
            <a:off x="6903720" y="2926080"/>
            <a:ext cx="1691640" cy="457200"/>
          </a:xfrm>
          <a:prstGeom prst="rect">
            <a:avLst/>
          </a:prstGeom>
          <a:noFill/>
          <a:ln/>
        </p:spPr>
        <p:txBody>
          <a:bodyPr wrap="square" lIns="0" tIns="0" rIns="0" bIns="0" rtlCol="0" anchor="ctr"/>
          <a:lstStyle/>
          <a:p>
            <a:pPr indent="0" marL="0">
              <a:buNone/>
            </a:pPr>
            <a:r>
              <a:rPr lang="en-US" sz="1500" b="1" dirty="0">
                <a:solidFill>
                  <a:schemeClr val="tx1"/>
                </a:solidFill>
              </a:rPr>
              <a:t>Folder owner's app</a:t>
            </a:r>
            <a:endParaRPr lang="en-US" sz="1500" dirty="0"/>
          </a:p>
        </p:txBody>
      </p:sp>
      <p:sp>
        <p:nvSpPr>
          <p:cNvPr id="14" name="PC text 2"/>
          <p:cNvSpPr txBox="1"/>
          <p:nvPr/>
        </p:nvSpPr>
        <p:spPr>
          <a:xfrm>
            <a:off x="6309360" y="3474720"/>
            <a:ext cx="2240280" cy="822960"/>
          </a:xfrm>
          <a:prstGeom prst="rect">
            <a:avLst/>
          </a:prstGeom>
          <a:noFill/>
          <a:ln/>
        </p:spPr>
        <p:txBody>
          <a:bodyPr wrap="square" lIns="0" tIns="0" rIns="0" bIns="0" rtlCol="0" anchor="t"/>
          <a:lstStyle/>
          <a:p>
            <a:pPr indent="0" marL="0">
              <a:buNone/>
            </a:pPr>
            <a:r>
              <a:rPr lang="en-US" sz="1100" dirty="0">
                <a:solidFill>
                  <a:schemeClr val="tx2"/>
                </a:solidFill>
              </a:rPr>
              <a:t>Folder on own PC or NAS</a:t>
            </a:r>
            <a:endParaRPr lang="en-US" sz="1100" dirty="0"/>
          </a:p>
          <a:p>
            <a:pPr indent="0" marL="0">
              <a:buNone/>
            </a:pPr>
            <a:r>
              <a:rPr lang="en-US" sz="1100" dirty="0">
                <a:solidFill>
                  <a:schemeClr val="tx2"/>
                </a:solidFill>
              </a:rPr>
              <a:t>Checks every request against permissions</a:t>
            </a:r>
            <a:endParaRPr lang="en-US" sz="1100" dirty="0"/>
          </a:p>
        </p:txBody>
      </p:sp>
      <p:sp>
        <p:nvSpPr>
          <p:cNvPr id="15" name="P2P arrow"/>
          <p:cNvSpPr/>
          <p:nvPr/>
        </p:nvSpPr>
        <p:spPr>
          <a:xfrm>
            <a:off x="3108960" y="3584448"/>
            <a:ext cx="2926080" cy="0"/>
          </a:xfrm>
          <a:prstGeom prst="line">
            <a:avLst/>
          </a:prstGeom>
          <a:noFill/>
          <a:ln w="50800">
            <a:solidFill>
              <a:schemeClr val="accent1"/>
            </a:solidFill>
            <a:prstDash val="solid"/>
            <a:headEnd type="triangle"/>
            <a:tailEnd type="triangle"/>
          </a:ln>
        </p:spPr>
      </p:sp>
      <p:sp>
        <p:nvSpPr>
          <p:cNvPr id="16" name="P2P label"/>
          <p:cNvSpPr txBox="1"/>
          <p:nvPr/>
        </p:nvSpPr>
        <p:spPr>
          <a:xfrm>
            <a:off x="3108960" y="3639312"/>
            <a:ext cx="2926080" cy="457200"/>
          </a:xfrm>
          <a:prstGeom prst="rect">
            <a:avLst/>
          </a:prstGeom>
          <a:noFill/>
          <a:ln/>
        </p:spPr>
        <p:txBody>
          <a:bodyPr wrap="square" lIns="0" tIns="0" rIns="0" bIns="0" rtlCol="0" anchor="ctr"/>
          <a:lstStyle/>
          <a:p>
            <a:pPr algn="ctr" indent="0" marL="0">
              <a:buNone/>
            </a:pPr>
            <a:r>
              <a:rPr lang="en-US" sz="1100" b="1" dirty="0">
                <a:solidFill>
                  <a:schemeClr val="accent1"/>
                </a:solidFill>
              </a:rPr>
              <a:t>FILE DATA - direct, TLS 1.3, parallel streams</a:t>
            </a:r>
            <a:endParaRPr lang="en-US" sz="1100" dirty="0"/>
          </a:p>
        </p:txBody>
      </p:sp>
      <p:sp>
        <p:nvSpPr>
          <p:cNvPr id="17" name="Left control line"/>
          <p:cNvSpPr/>
          <p:nvPr/>
        </p:nvSpPr>
        <p:spPr>
          <a:xfrm>
            <a:off x="1737360" y="1828800"/>
            <a:ext cx="777240" cy="914400"/>
          </a:xfrm>
          <a:prstGeom prst="line">
            <a:avLst/>
          </a:prstGeom>
          <a:noFill/>
          <a:ln w="19050">
            <a:solidFill>
              <a:schemeClr val="tx2"/>
            </a:solidFill>
            <a:prstDash val="dash"/>
          </a:ln>
        </p:spPr>
      </p:sp>
      <p:sp>
        <p:nvSpPr>
          <p:cNvPr id="18" name="Right control line"/>
          <p:cNvSpPr/>
          <p:nvPr/>
        </p:nvSpPr>
        <p:spPr>
          <a:xfrm flipH="1">
            <a:off x="6629400" y="1828800"/>
            <a:ext cx="777240" cy="914400"/>
          </a:xfrm>
          <a:prstGeom prst="line">
            <a:avLst/>
          </a:prstGeom>
          <a:noFill/>
          <a:ln w="19050">
            <a:solidFill>
              <a:schemeClr val="tx2"/>
            </a:solidFill>
            <a:prstDash val="dash"/>
          </a:ln>
        </p:spPr>
      </p:sp>
      <p:sp>
        <p:nvSpPr>
          <p:cNvPr id="19" name="Control label"/>
          <p:cNvSpPr txBox="1"/>
          <p:nvPr/>
        </p:nvSpPr>
        <p:spPr>
          <a:xfrm>
            <a:off x="3108960" y="2377440"/>
            <a:ext cx="2926080" cy="274320"/>
          </a:xfrm>
          <a:prstGeom prst="rect">
            <a:avLst/>
          </a:prstGeom>
          <a:noFill/>
          <a:ln/>
        </p:spPr>
        <p:txBody>
          <a:bodyPr wrap="square" lIns="0" tIns="0" rIns="0" bIns="0" rtlCol="0" anchor="ctr"/>
          <a:lstStyle/>
          <a:p>
            <a:pPr algn="ctr" indent="0" marL="0">
              <a:buNone/>
            </a:pPr>
            <a:r>
              <a:rPr lang="en-US" sz="1000" i="1" dirty="0">
                <a:solidFill>
                  <a:schemeClr val="tx2"/>
                </a:solidFill>
              </a:rPr>
              <a:t>sign-in, presence, encrypted control messages</a:t>
            </a:r>
            <a:endParaRPr lang="en-US" sz="10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ection circle"/>
          <p:cNvSpPr/>
          <p:nvPr/>
        </p:nvSpPr>
        <p:spPr>
          <a:xfrm>
            <a:off x="548640" y="1005840"/>
            <a:ext cx="731520" cy="731520"/>
          </a:xfrm>
          <a:prstGeom prst="ellipse">
            <a:avLst/>
          </a:prstGeom>
          <a:solidFill>
            <a:schemeClr val="accent1"/>
          </a:solidFill>
          <a:ln/>
        </p:spPr>
      </p:sp>
      <p:pic>
        <p:nvPicPr>
          <p:cNvPr id="3" name="Section icon" descr="preencoded.png">    </p:cNvPr>
          <p:cNvPicPr>
            <a:picLocks noChangeAspect="1"/>
          </p:cNvPicPr>
          <p:nvPr/>
        </p:nvPicPr>
        <p:blipFill>
          <a:blip r:embed="rId1"/>
          <a:stretch>
            <a:fillRect/>
          </a:stretch>
        </p:blipFill>
        <p:spPr>
          <a:xfrm>
            <a:off x="724205" y="1181405"/>
            <a:ext cx="380390" cy="380390"/>
          </a:xfrm>
          <a:prstGeom prst="rect">
            <a:avLst/>
          </a:prstGeom>
        </p:spPr>
      </p:pic>
      <p:sp>
        <p:nvSpPr>
          <p:cNvPr id="4" name="Text 0"/>
          <p:cNvSpPr/>
          <p:nvPr>
            <p:ph idx="100" type="title" hasCustomPrompt="1"/>
          </p:nvPr>
        </p:nvSpPr>
        <p:spPr>
          <a:xfrm>
            <a:off x="548640" y="1920240"/>
            <a:ext cx="8046720" cy="822960"/>
          </a:xfrm>
          <a:prstGeom prst="rect">
            <a:avLst/>
          </a:prstGeom>
          <a:noFill/>
          <a:ln/>
        </p:spPr>
        <p:txBody>
          <a:bodyPr wrap="square" lIns="0" tIns="0" rIns="0" bIns="0" rtlCol="0" anchor="b"/>
          <a:lstStyle/>
          <a:p>
            <a:pPr algn="l" indent="0" marL="0">
              <a:buNone/>
            </a:pPr>
            <a:r>
              <a:rPr lang="en-US" sz="4000" b="1" dirty="0">
                <a:solidFill>
                  <a:schemeClr val="bg1"/>
                </a:solidFill>
              </a:rPr>
              <a:t>Everything in one app</a:t>
            </a:r>
            <a:endParaRPr lang="en-US" sz="4000" dirty="0"/>
          </a:p>
        </p:txBody>
      </p:sp>
      <p:sp>
        <p:nvSpPr>
          <p:cNvPr id="5" name="Text 0"/>
          <p:cNvSpPr/>
          <p:nvPr>
            <p:ph idx="101" type="body" hasCustomPrompt="1"/>
          </p:nvPr>
        </p:nvSpPr>
        <p:spPr>
          <a:xfrm>
            <a:off x="548640" y="2834640"/>
            <a:ext cx="7315200" cy="731520"/>
          </a:xfrm>
          <a:prstGeom prst="rect">
            <a:avLst/>
          </a:prstGeom>
          <a:noFill/>
          <a:ln/>
        </p:spPr>
        <p:txBody>
          <a:bodyPr wrap="square" lIns="0" tIns="0" rIns="0" bIns="0" rtlCol="0" anchor="t"/>
          <a:lstStyle/>
          <a:p>
            <a:pPr indent="0" marL="0">
              <a:buNone/>
            </a:pPr>
            <a:r>
              <a:rPr lang="en-US" sz="1800" dirty="0">
                <a:solidFill>
                  <a:schemeClr val="bg2"/>
                </a:solidFill>
              </a:rPr>
              <a:t>Sharing · permissions · security · big-file engine · collaboration · administration</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Folder sharing, Media Shuttle style</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Share existing folders on your PC or NAS - every user can both share and receive</a:t>
            </a:r>
            <a:endParaRPr lang="en-US" sz="1400" dirty="0"/>
          </a:p>
        </p:txBody>
      </p:sp>
      <p:sp>
        <p:nvSpPr>
          <p:cNvPr id="4" name="Share 1"/>
          <p:cNvSpPr/>
          <p:nvPr/>
        </p:nvSpPr>
        <p:spPr>
          <a:xfrm>
            <a:off x="457200" y="1325880"/>
            <a:ext cx="2596896" cy="1508760"/>
          </a:xfrm>
          <a:prstGeom prst="roundRect">
            <a:avLst>
              <a:gd name="adj" fmla="val 4848"/>
            </a:avLst>
          </a:prstGeom>
          <a:solidFill>
            <a:schemeClr val="bg2"/>
          </a:solidFill>
          <a:ln/>
        </p:spPr>
      </p:sp>
      <p:sp>
        <p:nvSpPr>
          <p:cNvPr id="5" name="Share 1 circle"/>
          <p:cNvSpPr/>
          <p:nvPr/>
        </p:nvSpPr>
        <p:spPr>
          <a:xfrm>
            <a:off x="640080" y="1508760"/>
            <a:ext cx="457200" cy="457200"/>
          </a:xfrm>
          <a:prstGeom prst="ellipse">
            <a:avLst/>
          </a:prstGeom>
          <a:solidFill>
            <a:schemeClr val="accent2"/>
          </a:solidFill>
          <a:ln/>
        </p:spPr>
      </p:sp>
      <p:pic>
        <p:nvPicPr>
          <p:cNvPr id="6" name="Share 1 icon"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7" name="Share 1 heading"/>
          <p:cNvSpPr txBox="1"/>
          <p:nvPr/>
        </p:nvSpPr>
        <p:spPr>
          <a:xfrm>
            <a:off x="1234440"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Share folder</a:t>
            </a:r>
            <a:endParaRPr lang="en-US" sz="1500" dirty="0"/>
          </a:p>
        </p:txBody>
      </p:sp>
      <p:sp>
        <p:nvSpPr>
          <p:cNvPr id="8" name="Share 1 text"/>
          <p:cNvSpPr txBox="1"/>
          <p:nvPr/>
        </p:nvSpPr>
        <p:spPr>
          <a:xfrm>
            <a:off x="640080"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People browse, upload and download as permitted. Each folder gets an ID like FD-7K3M-9QX2.</a:t>
            </a:r>
            <a:endParaRPr lang="en-US" sz="1200" dirty="0"/>
          </a:p>
        </p:txBody>
      </p:sp>
      <p:sp>
        <p:nvSpPr>
          <p:cNvPr id="9" name="Share 2"/>
          <p:cNvSpPr/>
          <p:nvPr/>
        </p:nvSpPr>
        <p:spPr>
          <a:xfrm>
            <a:off x="3273552" y="1325880"/>
            <a:ext cx="2596896" cy="1508760"/>
          </a:xfrm>
          <a:prstGeom prst="roundRect">
            <a:avLst>
              <a:gd name="adj" fmla="val 4848"/>
            </a:avLst>
          </a:prstGeom>
          <a:solidFill>
            <a:schemeClr val="bg2"/>
          </a:solidFill>
          <a:ln/>
        </p:spPr>
      </p:sp>
      <p:sp>
        <p:nvSpPr>
          <p:cNvPr id="10" name="Share 2 circle"/>
          <p:cNvSpPr/>
          <p:nvPr/>
        </p:nvSpPr>
        <p:spPr>
          <a:xfrm>
            <a:off x="3456432" y="1508760"/>
            <a:ext cx="457200" cy="457200"/>
          </a:xfrm>
          <a:prstGeom prst="ellipse">
            <a:avLst/>
          </a:prstGeom>
          <a:solidFill>
            <a:schemeClr val="accent1"/>
          </a:solidFill>
          <a:ln/>
        </p:spPr>
      </p:sp>
      <p:pic>
        <p:nvPicPr>
          <p:cNvPr id="11" name="Share 2 icon" descr="preencoded.png">    </p:cNvPr>
          <p:cNvPicPr>
            <a:picLocks noChangeAspect="1"/>
          </p:cNvPicPr>
          <p:nvPr/>
        </p:nvPicPr>
        <p:blipFill>
          <a:blip r:embed="rId2"/>
          <a:stretch>
            <a:fillRect/>
          </a:stretch>
        </p:blipFill>
        <p:spPr>
          <a:xfrm>
            <a:off x="3566160" y="1618488"/>
            <a:ext cx="237744" cy="237744"/>
          </a:xfrm>
          <a:prstGeom prst="rect">
            <a:avLst/>
          </a:prstGeom>
        </p:spPr>
      </p:pic>
      <p:sp>
        <p:nvSpPr>
          <p:cNvPr id="12" name="Share 2 heading"/>
          <p:cNvSpPr txBox="1"/>
          <p:nvPr/>
        </p:nvSpPr>
        <p:spPr>
          <a:xfrm>
            <a:off x="4050792"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Submit folder</a:t>
            </a:r>
            <a:endParaRPr lang="en-US" sz="1500" dirty="0"/>
          </a:p>
        </p:txBody>
      </p:sp>
      <p:sp>
        <p:nvSpPr>
          <p:cNvPr id="13" name="Share 2 text"/>
          <p:cNvSpPr txBox="1"/>
          <p:nvPr/>
        </p:nvSpPr>
        <p:spPr>
          <a:xfrm>
            <a:off x="3456432"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A drop box: senders deliver files in but cannot see what's already there.</a:t>
            </a:r>
            <a:endParaRPr lang="en-US" sz="1200" dirty="0"/>
          </a:p>
        </p:txBody>
      </p:sp>
      <p:sp>
        <p:nvSpPr>
          <p:cNvPr id="14" name="Share 3"/>
          <p:cNvSpPr/>
          <p:nvPr/>
        </p:nvSpPr>
        <p:spPr>
          <a:xfrm>
            <a:off x="6089904" y="1325880"/>
            <a:ext cx="2596896" cy="1508760"/>
          </a:xfrm>
          <a:prstGeom prst="roundRect">
            <a:avLst>
              <a:gd name="adj" fmla="val 4848"/>
            </a:avLst>
          </a:prstGeom>
          <a:solidFill>
            <a:schemeClr val="bg2"/>
          </a:solidFill>
          <a:ln/>
        </p:spPr>
      </p:sp>
      <p:sp>
        <p:nvSpPr>
          <p:cNvPr id="15" name="Share 3 circle"/>
          <p:cNvSpPr/>
          <p:nvPr/>
        </p:nvSpPr>
        <p:spPr>
          <a:xfrm>
            <a:off x="6272784" y="1508760"/>
            <a:ext cx="457200" cy="457200"/>
          </a:xfrm>
          <a:prstGeom prst="ellipse">
            <a:avLst/>
          </a:prstGeom>
          <a:solidFill>
            <a:schemeClr val="accent3"/>
          </a:solidFill>
          <a:ln/>
        </p:spPr>
      </p:sp>
      <p:pic>
        <p:nvPicPr>
          <p:cNvPr id="16" name="Share 3 icon" descr="preencoded.png">    </p:cNvPr>
          <p:cNvPicPr>
            <a:picLocks noChangeAspect="1"/>
          </p:cNvPicPr>
          <p:nvPr/>
        </p:nvPicPr>
        <p:blipFill>
          <a:blip r:embed="rId3"/>
          <a:stretch>
            <a:fillRect/>
          </a:stretch>
        </p:blipFill>
        <p:spPr>
          <a:xfrm>
            <a:off x="6382512" y="1618488"/>
            <a:ext cx="237744" cy="237744"/>
          </a:xfrm>
          <a:prstGeom prst="rect">
            <a:avLst/>
          </a:prstGeom>
        </p:spPr>
      </p:pic>
      <p:sp>
        <p:nvSpPr>
          <p:cNvPr id="17" name="Share 3 heading"/>
          <p:cNvSpPr txBox="1"/>
          <p:nvPr/>
        </p:nvSpPr>
        <p:spPr>
          <a:xfrm>
            <a:off x="6867144"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File rules</a:t>
            </a:r>
            <a:endParaRPr lang="en-US" sz="1500" dirty="0"/>
          </a:p>
        </p:txBody>
      </p:sp>
      <p:sp>
        <p:nvSpPr>
          <p:cNvPr id="18" name="Share 3 text"/>
          <p:cNvSpPr txBox="1"/>
          <p:nvPr/>
        </p:nvSpPr>
        <p:spPr>
          <a:xfrm>
            <a:off x="6272784"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Optional allowed types and max size, checked before sending and again by the owner's app.</a:t>
            </a:r>
            <a:endParaRPr lang="en-US" sz="1200" dirty="0"/>
          </a:p>
        </p:txBody>
      </p:sp>
      <p:sp>
        <p:nvSpPr>
          <p:cNvPr id="19" name="Share 4"/>
          <p:cNvSpPr/>
          <p:nvPr/>
        </p:nvSpPr>
        <p:spPr>
          <a:xfrm>
            <a:off x="457200" y="3017520"/>
            <a:ext cx="2596896" cy="1508760"/>
          </a:xfrm>
          <a:prstGeom prst="roundRect">
            <a:avLst>
              <a:gd name="adj" fmla="val 4848"/>
            </a:avLst>
          </a:prstGeom>
          <a:solidFill>
            <a:schemeClr val="bg2"/>
          </a:solidFill>
          <a:ln/>
        </p:spPr>
      </p:sp>
      <p:sp>
        <p:nvSpPr>
          <p:cNvPr id="20" name="Share 4 circle"/>
          <p:cNvSpPr/>
          <p:nvPr/>
        </p:nvSpPr>
        <p:spPr>
          <a:xfrm>
            <a:off x="640080" y="3200400"/>
            <a:ext cx="457200" cy="457200"/>
          </a:xfrm>
          <a:prstGeom prst="ellipse">
            <a:avLst/>
          </a:prstGeom>
          <a:solidFill>
            <a:schemeClr val="accent4"/>
          </a:solidFill>
          <a:ln/>
        </p:spPr>
      </p:sp>
      <p:pic>
        <p:nvPicPr>
          <p:cNvPr id="21" name="Share 4 icon" descr="preencoded.png">    </p:cNvPr>
          <p:cNvPicPr>
            <a:picLocks noChangeAspect="1"/>
          </p:cNvPicPr>
          <p:nvPr/>
        </p:nvPicPr>
        <p:blipFill>
          <a:blip r:embed="rId4"/>
          <a:stretch>
            <a:fillRect/>
          </a:stretch>
        </p:blipFill>
        <p:spPr>
          <a:xfrm>
            <a:off x="749808" y="3310128"/>
            <a:ext cx="237744" cy="237744"/>
          </a:xfrm>
          <a:prstGeom prst="rect">
            <a:avLst/>
          </a:prstGeom>
        </p:spPr>
      </p:pic>
      <p:sp>
        <p:nvSpPr>
          <p:cNvPr id="22" name="Share 4 heading"/>
          <p:cNvSpPr txBox="1"/>
          <p:nvPr/>
        </p:nvSpPr>
        <p:spPr>
          <a:xfrm>
            <a:off x="1234440"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Upload forms</a:t>
            </a:r>
            <a:endParaRPr lang="en-US" sz="1500" dirty="0"/>
          </a:p>
        </p:txBody>
      </p:sp>
      <p:sp>
        <p:nvSpPr>
          <p:cNvPr id="23" name="Share 4 text"/>
          <p:cNvSpPr txBox="1"/>
          <p:nvPr/>
        </p:nvSpPr>
        <p:spPr>
          <a:xfrm>
            <a:off x="640080"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Fields like Project* or Notes. Values stay on the owner's PC only.</a:t>
            </a:r>
            <a:endParaRPr lang="en-US" sz="1200" dirty="0"/>
          </a:p>
        </p:txBody>
      </p:sp>
      <p:sp>
        <p:nvSpPr>
          <p:cNvPr id="24" name="Share 5"/>
          <p:cNvSpPr/>
          <p:nvPr/>
        </p:nvSpPr>
        <p:spPr>
          <a:xfrm>
            <a:off x="3273552" y="3017520"/>
            <a:ext cx="2596896" cy="1508760"/>
          </a:xfrm>
          <a:prstGeom prst="roundRect">
            <a:avLst>
              <a:gd name="adj" fmla="val 4848"/>
            </a:avLst>
          </a:prstGeom>
          <a:solidFill>
            <a:schemeClr val="bg2"/>
          </a:solidFill>
          <a:ln/>
        </p:spPr>
      </p:sp>
      <p:sp>
        <p:nvSpPr>
          <p:cNvPr id="25" name="Share 5 circle"/>
          <p:cNvSpPr/>
          <p:nvPr/>
        </p:nvSpPr>
        <p:spPr>
          <a:xfrm>
            <a:off x="3456432" y="3200400"/>
            <a:ext cx="457200" cy="457200"/>
          </a:xfrm>
          <a:prstGeom prst="ellipse">
            <a:avLst/>
          </a:prstGeom>
          <a:solidFill>
            <a:schemeClr val="accent5"/>
          </a:solidFill>
          <a:ln/>
        </p:spPr>
      </p:sp>
      <p:pic>
        <p:nvPicPr>
          <p:cNvPr id="26" name="Share 5 icon" descr="preencoded.png">    </p:cNvPr>
          <p:cNvPicPr>
            <a:picLocks noChangeAspect="1"/>
          </p:cNvPicPr>
          <p:nvPr/>
        </p:nvPicPr>
        <p:blipFill>
          <a:blip r:embed="rId5"/>
          <a:stretch>
            <a:fillRect/>
          </a:stretch>
        </p:blipFill>
        <p:spPr>
          <a:xfrm>
            <a:off x="3566160" y="3310128"/>
            <a:ext cx="237744" cy="237744"/>
          </a:xfrm>
          <a:prstGeom prst="rect">
            <a:avLst/>
          </a:prstGeom>
        </p:spPr>
      </p:pic>
      <p:sp>
        <p:nvSpPr>
          <p:cNvPr id="27" name="Share 5 heading"/>
          <p:cNvSpPr txBox="1"/>
          <p:nvPr/>
        </p:nvSpPr>
        <p:spPr>
          <a:xfrm>
            <a:off x="4050792"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Users &amp; groups</a:t>
            </a:r>
            <a:endParaRPr lang="en-US" sz="1500" dirty="0"/>
          </a:p>
        </p:txBody>
      </p:sp>
      <p:sp>
        <p:nvSpPr>
          <p:cNvPr id="28" name="Share 5 text"/>
          <p:cNvSpPr txBox="1"/>
          <p:nvPr/>
        </p:nvSpPr>
        <p:spPr>
          <a:xfrm>
            <a:off x="3456432"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Add people by 9-digit ID, username or e-mail. Share with whole groups at once.</a:t>
            </a:r>
            <a:endParaRPr lang="en-US" sz="1200" dirty="0"/>
          </a:p>
        </p:txBody>
      </p:sp>
      <p:sp>
        <p:nvSpPr>
          <p:cNvPr id="29" name="Share 6"/>
          <p:cNvSpPr/>
          <p:nvPr/>
        </p:nvSpPr>
        <p:spPr>
          <a:xfrm>
            <a:off x="6089904" y="3017520"/>
            <a:ext cx="2596896" cy="1508760"/>
          </a:xfrm>
          <a:prstGeom prst="roundRect">
            <a:avLst>
              <a:gd name="adj" fmla="val 4848"/>
            </a:avLst>
          </a:prstGeom>
          <a:solidFill>
            <a:schemeClr val="bg2"/>
          </a:solidFill>
          <a:ln/>
        </p:spPr>
      </p:sp>
      <p:sp>
        <p:nvSpPr>
          <p:cNvPr id="30" name="Share 6 circle"/>
          <p:cNvSpPr/>
          <p:nvPr/>
        </p:nvSpPr>
        <p:spPr>
          <a:xfrm>
            <a:off x="6272784" y="3200400"/>
            <a:ext cx="457200" cy="457200"/>
          </a:xfrm>
          <a:prstGeom prst="ellipse">
            <a:avLst/>
          </a:prstGeom>
          <a:solidFill>
            <a:schemeClr val="accent6"/>
          </a:solidFill>
          <a:ln/>
        </p:spPr>
      </p:sp>
      <p:pic>
        <p:nvPicPr>
          <p:cNvPr id="31" name="Share 6 icon" descr="preencoded.png">    </p:cNvPr>
          <p:cNvPicPr>
            <a:picLocks noChangeAspect="1"/>
          </p:cNvPicPr>
          <p:nvPr/>
        </p:nvPicPr>
        <p:blipFill>
          <a:blip r:embed="rId6"/>
          <a:stretch>
            <a:fillRect/>
          </a:stretch>
        </p:blipFill>
        <p:spPr>
          <a:xfrm>
            <a:off x="6382512" y="3310128"/>
            <a:ext cx="237744" cy="237744"/>
          </a:xfrm>
          <a:prstGeom prst="rect">
            <a:avLst/>
          </a:prstGeom>
        </p:spPr>
      </p:pic>
      <p:sp>
        <p:nvSpPr>
          <p:cNvPr id="32" name="Share 6 heading"/>
          <p:cNvSpPr txBox="1"/>
          <p:nvPr/>
        </p:nvSpPr>
        <p:spPr>
          <a:xfrm>
            <a:off x="6867144"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Your own storage</a:t>
            </a:r>
            <a:endParaRPr lang="en-US" sz="1500" dirty="0"/>
          </a:p>
        </p:txBody>
      </p:sp>
      <p:sp>
        <p:nvSpPr>
          <p:cNvPr id="33" name="Share 6 text"/>
          <p:cNvSpPr txBox="1"/>
          <p:nvPr/>
        </p:nvSpPr>
        <p:spPr>
          <a:xfrm>
            <a:off x="6272784"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Free space is shown; uploads that won't fit are refused before they start.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Precise permissions per person</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Changes apply immediately - even to transfers already running</a:t>
            </a:r>
            <a:endParaRPr lang="en-US" sz="1400" dirty="0"/>
          </a:p>
        </p:txBody>
      </p:sp>
      <p:graphicFrame>
        <p:nvGraphicFramePr>
          <p:cNvPr id="8" name="Roles table"/>
          <p:cNvGraphicFramePr>
            <a:graphicFrameLocks noGrp="1"/>
          </p:cNvGraphicFramePr>
          <p:nvPr>
            <p:extLst>
              <p:ext uri="{D42A27DB-BD31-4B8C-83A1-F6EECF244321}">
                <p14:modId xmlns:p14="http://schemas.microsoft.com/office/powerpoint/2010/main" val="1579011935"/>
              </p:ext>
            </p:extLst>
          </p:nvPr>
        </p:nvGraphicFramePr>
        <p:xfrm>
          <a:off x="457200" y="1371600"/>
          <a:ext cx="4937760" cy="914400"/>
        </p:xfrm>
        <a:graphic>
          <a:graphicData uri="http://schemas.openxmlformats.org/drawingml/2006/table">
            <a:tbl>
              <a:tblPr/>
              <a:tblGrid>
                <a:gridCol w="1280160"/>
                <a:gridCol w="1097280"/>
                <a:gridCol w="822960"/>
                <a:gridCol w="822960"/>
                <a:gridCol w="914400"/>
              </a:tblGrid>
              <a:tr h="438912">
                <a:tc>
                  <a:txBody>
                    <a:bodyPr/>
                    <a:lstStyle/>
                    <a:p>
                      <a:pPr algn="l" indent="0" marL="0">
                        <a:buNone/>
                      </a:pPr>
                      <a:r>
                        <a:rPr lang="en-US" sz="1300" b="1" dirty="0">
                          <a:solidFill>
                            <a:schemeClr val="bg1"/>
                          </a:solidFill>
                        </a:rPr>
                        <a:t>Role</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View &amp; download</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Upload</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Edit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c>
                  <a:txBody>
                    <a:bodyPr/>
                    <a:lstStyle/>
                    <a:p>
                      <a:pPr algn="ctr" indent="0" marL="0">
                        <a:buNone/>
                      </a:pPr>
                      <a:r>
                        <a:rPr lang="en-US" sz="1300" b="1" dirty="0">
                          <a:solidFill>
                            <a:schemeClr val="bg1"/>
                          </a:solidFill>
                        </a:rPr>
                        <a:t>Delete</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tx1"/>
                    </a:solidFill>
                  </a:tcPr>
                </a:tc>
              </a:tr>
              <a:tr h="438912">
                <a:tc>
                  <a:txBody>
                    <a:bodyPr/>
                    <a:lstStyle/>
                    <a:p>
                      <a:pPr indent="0" marL="0">
                        <a:buNone/>
                      </a:pPr>
                      <a:r>
                        <a:rPr lang="en-US" sz="1300" b="1" dirty="0">
                          <a:solidFill>
                            <a:schemeClr val="tx1"/>
                          </a:solidFill>
                        </a:rPr>
                        <a:t>Uploader</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Viewer</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Editor</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dirty="0">
                          <a:solidFill>
                            <a:schemeClr val="tx2"/>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Manager</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a:txBody>
                    <a:bodyPr/>
                    <a:lstStyle/>
                    <a:p>
                      <a:pPr algn="ctr" indent="0" marL="0">
                        <a:buNone/>
                      </a:pPr>
                      <a:r>
                        <a:rPr lang="en-US" sz="1300" b="1" dirty="0">
                          <a:solidFill>
                            <a:schemeClr val="accent5"/>
                          </a:solidFill>
                        </a:rPr>
                        <a:t>✓</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r>
              <a:tr h="438912">
                <a:tc>
                  <a:txBody>
                    <a:bodyPr/>
                    <a:lstStyle/>
                    <a:p>
                      <a:pPr indent="0" marL="0">
                        <a:buNone/>
                      </a:pPr>
                      <a:r>
                        <a:rPr lang="en-US" sz="1300" b="1" dirty="0">
                          <a:solidFill>
                            <a:schemeClr val="tx1"/>
                          </a:solidFill>
                        </a:rPr>
                        <a:t>Custom</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gridSpan="4">
                  <a:txBody>
                    <a:bodyPr/>
                    <a:lstStyle/>
                    <a:p>
                      <a:pPr algn="ctr" indent="0" marL="0">
                        <a:buNone/>
                      </a:pPr>
                      <a:r>
                        <a:rPr lang="en-US" sz="1300" i="1" dirty="0">
                          <a:solidFill>
                            <a:schemeClr val="tx2"/>
                          </a:solidFill>
                        </a:rPr>
                        <a:t>Any combination of the four rights</a:t>
                      </a:r>
                      <a:endParaRPr lang="en-US" sz="1300" dirty="0"/>
                    </a:p>
                  </a:txBody>
                  <a:tcPr marL="91440" marR="91440" marT="45720" marB="45720" anchor="ctr">
                    <a:lnL w="9525" cap="flat" cmpd="sng" algn="ctr">
                      <a:solidFill>
                        <a:srgbClr val="E2E8F0"/>
                      </a:solidFill>
                      <a:prstDash val="solid"/>
                      <a:round/>
                      <a:headEnd type="none" w="med" len="med"/>
                      <a:tailEnd type="none" w="med" len="med"/>
                    </a:lnL>
                    <a:lnR w="9525" cap="flat" cmpd="sng" algn="ctr">
                      <a:solidFill>
                        <a:srgbClr val="E2E8F0"/>
                      </a:solidFill>
                      <a:prstDash val="solid"/>
                      <a:round/>
                      <a:headEnd type="none" w="med" len="med"/>
                      <a:tailEnd type="none" w="med" len="med"/>
                    </a:lnR>
                    <a:lnT w="9525" cap="flat" cmpd="sng" algn="ctr">
                      <a:solidFill>
                        <a:srgbClr val="E2E8F0"/>
                      </a:solidFill>
                      <a:prstDash val="solid"/>
                      <a:round/>
                      <a:headEnd type="none" w="med" len="med"/>
                      <a:tailEnd type="none" w="med" len="med"/>
                    </a:lnT>
                    <a:lnB w="9525" cap="flat" cmpd="sng" algn="ctr">
                      <a:solidFill>
                        <a:srgbClr val="E2E8F0"/>
                      </a:solidFill>
                      <a:prstDash val="solid"/>
                      <a:round/>
                      <a:headEnd type="none" w="med" len="med"/>
                      <a:tailEnd type="none" w="med" len="med"/>
                    </a:lnB>
                    <a:solidFill>
                      <a:schemeClr val="bg1"/>
                    </a:solidFill>
                  </a:tcPr>
                </a:tc>
                <a:tc hMerge="1">
                  <a:tcPr/>
                </a:tc>
                <a:tc hMerge="1">
                  <a:tcPr/>
                </a:tc>
                <a:tc hMerge="1">
                  <a:tcPr/>
                </a:tc>
              </a:tr>
            </a:tbl>
          </a:graphicData>
        </a:graphic>
      </p:graphicFrame>
      <p:sp>
        <p:nvSpPr>
          <p:cNvPr id="5" name="Extra 1 circle"/>
          <p:cNvSpPr/>
          <p:nvPr/>
        </p:nvSpPr>
        <p:spPr>
          <a:xfrm>
            <a:off x="5760720" y="1417320"/>
            <a:ext cx="457200" cy="457200"/>
          </a:xfrm>
          <a:prstGeom prst="ellipse">
            <a:avLst/>
          </a:prstGeom>
          <a:solidFill>
            <a:schemeClr val="accent3"/>
          </a:solidFill>
          <a:ln/>
        </p:spPr>
      </p:sp>
      <p:pic>
        <p:nvPicPr>
          <p:cNvPr id="6" name="Extra 1 icon" descr="preencoded.png">    </p:cNvPr>
          <p:cNvPicPr>
            <a:picLocks noChangeAspect="1"/>
          </p:cNvPicPr>
          <p:nvPr/>
        </p:nvPicPr>
        <p:blipFill>
          <a:blip r:embed="rId1"/>
          <a:stretch>
            <a:fillRect/>
          </a:stretch>
        </p:blipFill>
        <p:spPr>
          <a:xfrm>
            <a:off x="5870448" y="1527048"/>
            <a:ext cx="237744" cy="237744"/>
          </a:xfrm>
          <a:prstGeom prst="rect">
            <a:avLst/>
          </a:prstGeom>
        </p:spPr>
      </p:pic>
      <p:sp>
        <p:nvSpPr>
          <p:cNvPr id="7" name="Extra text 1"/>
          <p:cNvSpPr txBox="1"/>
          <p:nvPr/>
        </p:nvSpPr>
        <p:spPr>
          <a:xfrm>
            <a:off x="6355080" y="1371600"/>
            <a:ext cx="2331720" cy="868680"/>
          </a:xfrm>
          <a:prstGeom prst="rect">
            <a:avLst/>
          </a:prstGeom>
          <a:noFill/>
          <a:ln/>
        </p:spPr>
        <p:txBody>
          <a:bodyPr wrap="square" lIns="0" tIns="0" rIns="0" bIns="0" rtlCol="0" anchor="t"/>
          <a:lstStyle/>
          <a:p>
            <a:pPr indent="0" marL="0">
              <a:buNone/>
            </a:pPr>
            <a:r>
              <a:rPr lang="en-US" sz="1500" b="1" dirty="0">
                <a:solidFill>
                  <a:schemeClr val="tx1"/>
                </a:solidFill>
              </a:rPr>
              <a:t>Expiry dates</a:t>
            </a:r>
            <a:endParaRPr lang="en-US" sz="1500" dirty="0"/>
          </a:p>
          <a:p>
            <a:pPr indent="0" marL="0">
              <a:buNone/>
            </a:pPr>
            <a:r>
              <a:rPr lang="en-US" sz="1200" dirty="0">
                <a:solidFill>
                  <a:schemeClr val="tx2"/>
                </a:solidFill>
              </a:rPr>
              <a:t>Access ends automatically on the chosen day.</a:t>
            </a:r>
            <a:endParaRPr lang="en-US" sz="1500" dirty="0"/>
          </a:p>
        </p:txBody>
      </p:sp>
      <p:sp>
        <p:nvSpPr>
          <p:cNvPr id="8" name="Extra 2 circle"/>
          <p:cNvSpPr/>
          <p:nvPr/>
        </p:nvSpPr>
        <p:spPr>
          <a:xfrm>
            <a:off x="5760720" y="2450592"/>
            <a:ext cx="457200" cy="457200"/>
          </a:xfrm>
          <a:prstGeom prst="ellipse">
            <a:avLst/>
          </a:prstGeom>
          <a:solidFill>
            <a:schemeClr val="accent6"/>
          </a:solidFill>
          <a:ln/>
        </p:spPr>
      </p:sp>
      <p:pic>
        <p:nvPicPr>
          <p:cNvPr id="9" name="Extra 2 icon" descr="preencoded.png">    </p:cNvPr>
          <p:cNvPicPr>
            <a:picLocks noChangeAspect="1"/>
          </p:cNvPicPr>
          <p:nvPr/>
        </p:nvPicPr>
        <p:blipFill>
          <a:blip r:embed="rId2"/>
          <a:stretch>
            <a:fillRect/>
          </a:stretch>
        </p:blipFill>
        <p:spPr>
          <a:xfrm>
            <a:off x="5870448" y="2560320"/>
            <a:ext cx="237744" cy="237744"/>
          </a:xfrm>
          <a:prstGeom prst="rect">
            <a:avLst/>
          </a:prstGeom>
        </p:spPr>
      </p:pic>
      <p:sp>
        <p:nvSpPr>
          <p:cNvPr id="10" name="Extra text 2"/>
          <p:cNvSpPr txBox="1"/>
          <p:nvPr/>
        </p:nvSpPr>
        <p:spPr>
          <a:xfrm>
            <a:off x="6355080" y="2404872"/>
            <a:ext cx="2331720" cy="868680"/>
          </a:xfrm>
          <a:prstGeom prst="rect">
            <a:avLst/>
          </a:prstGeom>
          <a:noFill/>
          <a:ln/>
        </p:spPr>
        <p:txBody>
          <a:bodyPr wrap="square" lIns="0" tIns="0" rIns="0" bIns="0" rtlCol="0" anchor="t"/>
          <a:lstStyle/>
          <a:p>
            <a:pPr indent="0" marL="0">
              <a:buNone/>
            </a:pPr>
            <a:r>
              <a:rPr lang="en-US" sz="1500" b="1" dirty="0">
                <a:solidFill>
                  <a:schemeClr val="tx1"/>
                </a:solidFill>
              </a:rPr>
              <a:t>Delete scope</a:t>
            </a:r>
            <a:endParaRPr lang="en-US" sz="1500" dirty="0"/>
          </a:p>
          <a:p>
            <a:pPr indent="0" marL="0">
              <a:buNone/>
            </a:pPr>
            <a:r>
              <a:rPr lang="en-US" sz="1200" dirty="0">
                <a:solidFill>
                  <a:schemeClr val="tx2"/>
                </a:solidFill>
              </a:rPr>
              <a:t>Allow deleting only their own files, or any file.</a:t>
            </a:r>
            <a:endParaRPr lang="en-US" sz="1500" dirty="0"/>
          </a:p>
        </p:txBody>
      </p:sp>
      <p:sp>
        <p:nvSpPr>
          <p:cNvPr id="11" name="Extra 3 circle"/>
          <p:cNvSpPr/>
          <p:nvPr/>
        </p:nvSpPr>
        <p:spPr>
          <a:xfrm>
            <a:off x="5760720" y="3483864"/>
            <a:ext cx="457200" cy="457200"/>
          </a:xfrm>
          <a:prstGeom prst="ellipse">
            <a:avLst/>
          </a:prstGeom>
          <a:solidFill>
            <a:schemeClr val="accent2"/>
          </a:solidFill>
          <a:ln/>
        </p:spPr>
      </p:sp>
      <p:pic>
        <p:nvPicPr>
          <p:cNvPr id="12" name="Extra 3 icon" descr="preencoded.png">    </p:cNvPr>
          <p:cNvPicPr>
            <a:picLocks noChangeAspect="1"/>
          </p:cNvPicPr>
          <p:nvPr/>
        </p:nvPicPr>
        <p:blipFill>
          <a:blip r:embed="rId3"/>
          <a:stretch>
            <a:fillRect/>
          </a:stretch>
        </p:blipFill>
        <p:spPr>
          <a:xfrm>
            <a:off x="5870448" y="3593592"/>
            <a:ext cx="237744" cy="237744"/>
          </a:xfrm>
          <a:prstGeom prst="rect">
            <a:avLst/>
          </a:prstGeom>
        </p:spPr>
      </p:pic>
      <p:sp>
        <p:nvSpPr>
          <p:cNvPr id="13" name="Extra text 3"/>
          <p:cNvSpPr txBox="1"/>
          <p:nvPr/>
        </p:nvSpPr>
        <p:spPr>
          <a:xfrm>
            <a:off x="6355080" y="3438144"/>
            <a:ext cx="2331720" cy="868680"/>
          </a:xfrm>
          <a:prstGeom prst="rect">
            <a:avLst/>
          </a:prstGeom>
          <a:noFill/>
          <a:ln/>
        </p:spPr>
        <p:txBody>
          <a:bodyPr wrap="square" lIns="0" tIns="0" rIns="0" bIns="0" rtlCol="0" anchor="t"/>
          <a:lstStyle/>
          <a:p>
            <a:pPr indent="0" marL="0">
              <a:buNone/>
            </a:pPr>
            <a:r>
              <a:rPr lang="en-US" sz="1500" b="1" dirty="0">
                <a:solidFill>
                  <a:schemeClr val="tx1"/>
                </a:solidFill>
              </a:rPr>
              <a:t>Owner-enforced</a:t>
            </a:r>
            <a:endParaRPr lang="en-US" sz="1500" dirty="0"/>
          </a:p>
          <a:p>
            <a:pPr indent="0" marL="0">
              <a:buNone/>
            </a:pPr>
            <a:r>
              <a:rPr lang="en-US" sz="1200" dirty="0">
                <a:solidFill>
                  <a:schemeClr val="tx2"/>
                </a:solidFill>
              </a:rPr>
              <a:t>The owner's app checks every request; paths stay inside the folder.</a:t>
            </a:r>
            <a:endParaRPr lang="en-US" sz="15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bg1"/>
                </a:solidFill>
              </a:rPr>
              <a:t>Security built into every step</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bg2"/>
                </a:solidFill>
              </a:rPr>
              <a:t>Verify people, approve uploads, encrypt everything - per member, per folder</a:t>
            </a:r>
            <a:endParaRPr lang="en-US" sz="1400" dirty="0"/>
          </a:p>
        </p:txBody>
      </p:sp>
      <p:sp>
        <p:nvSpPr>
          <p:cNvPr id="4" name="Security 1 circle"/>
          <p:cNvSpPr/>
          <p:nvPr/>
        </p:nvSpPr>
        <p:spPr>
          <a:xfrm>
            <a:off x="457200" y="1371600"/>
            <a:ext cx="502920" cy="502920"/>
          </a:xfrm>
          <a:prstGeom prst="ellipse">
            <a:avLst/>
          </a:prstGeom>
          <a:solidFill>
            <a:schemeClr val="accent1"/>
          </a:solidFill>
          <a:ln/>
        </p:spPr>
      </p:sp>
      <p:pic>
        <p:nvPicPr>
          <p:cNvPr id="5" name="Security 1 icon" descr="preencoded.png">    </p:cNvPr>
          <p:cNvPicPr>
            <a:picLocks noChangeAspect="1"/>
          </p:cNvPicPr>
          <p:nvPr/>
        </p:nvPicPr>
        <p:blipFill>
          <a:blip r:embed="rId1"/>
          <a:stretch>
            <a:fillRect/>
          </a:stretch>
        </p:blipFill>
        <p:spPr>
          <a:xfrm>
            <a:off x="577901" y="1492301"/>
            <a:ext cx="261518" cy="261518"/>
          </a:xfrm>
          <a:prstGeom prst="rect">
            <a:avLst/>
          </a:prstGeom>
        </p:spPr>
      </p:pic>
      <p:sp>
        <p:nvSpPr>
          <p:cNvPr id="6" name="Security text 1"/>
          <p:cNvSpPr txBox="1"/>
          <p:nvPr/>
        </p:nvSpPr>
        <p:spPr>
          <a:xfrm>
            <a:off x="1143000" y="1325880"/>
            <a:ext cx="3291840" cy="914400"/>
          </a:xfrm>
          <a:prstGeom prst="rect">
            <a:avLst/>
          </a:prstGeom>
          <a:noFill/>
          <a:ln/>
        </p:spPr>
        <p:txBody>
          <a:bodyPr wrap="square" lIns="0" tIns="0" rIns="0" bIns="0" rtlCol="0" anchor="t"/>
          <a:lstStyle/>
          <a:p>
            <a:pPr indent="0" marL="0">
              <a:buNone/>
            </a:pPr>
            <a:r>
              <a:rPr lang="en-US" sz="1500" b="1" dirty="0">
                <a:solidFill>
                  <a:schemeClr val="bg1"/>
                </a:solidFill>
              </a:rPr>
              <a:t>One-time code (OTP)</a:t>
            </a:r>
            <a:endParaRPr lang="en-US" sz="1500" dirty="0"/>
          </a:p>
          <a:p>
            <a:pPr indent="0" marL="0">
              <a:buNone/>
            </a:pPr>
            <a:r>
              <a:rPr lang="en-US" sz="1200" dirty="0">
                <a:solidFill>
                  <a:schemeClr val="bg2"/>
                </a:solidFill>
              </a:rPr>
              <a:t>Before the first transfer a member confirms a 6-digit code - valid 10 min, 5 tries.</a:t>
            </a:r>
            <a:endParaRPr lang="en-US" sz="1500" dirty="0"/>
          </a:p>
        </p:txBody>
      </p:sp>
      <p:sp>
        <p:nvSpPr>
          <p:cNvPr id="7" name="Security 2 circle"/>
          <p:cNvSpPr/>
          <p:nvPr/>
        </p:nvSpPr>
        <p:spPr>
          <a:xfrm>
            <a:off x="4663440" y="1371600"/>
            <a:ext cx="502920" cy="502920"/>
          </a:xfrm>
          <a:prstGeom prst="ellipse">
            <a:avLst/>
          </a:prstGeom>
          <a:solidFill>
            <a:schemeClr val="accent2"/>
          </a:solidFill>
          <a:ln/>
        </p:spPr>
      </p:sp>
      <p:pic>
        <p:nvPicPr>
          <p:cNvPr id="8" name="Security 2 icon" descr="preencoded.png">    </p:cNvPr>
          <p:cNvPicPr>
            <a:picLocks noChangeAspect="1"/>
          </p:cNvPicPr>
          <p:nvPr/>
        </p:nvPicPr>
        <p:blipFill>
          <a:blip r:embed="rId2"/>
          <a:stretch>
            <a:fillRect/>
          </a:stretch>
        </p:blipFill>
        <p:spPr>
          <a:xfrm>
            <a:off x="4784141" y="1492301"/>
            <a:ext cx="261518" cy="261518"/>
          </a:xfrm>
          <a:prstGeom prst="rect">
            <a:avLst/>
          </a:prstGeom>
        </p:spPr>
      </p:pic>
      <p:sp>
        <p:nvSpPr>
          <p:cNvPr id="9" name="Security text 2"/>
          <p:cNvSpPr txBox="1"/>
          <p:nvPr/>
        </p:nvSpPr>
        <p:spPr>
          <a:xfrm>
            <a:off x="5349240" y="1325880"/>
            <a:ext cx="3291840" cy="914400"/>
          </a:xfrm>
          <a:prstGeom prst="rect">
            <a:avLst/>
          </a:prstGeom>
          <a:noFill/>
          <a:ln/>
        </p:spPr>
        <p:txBody>
          <a:bodyPr wrap="square" lIns="0" tIns="0" rIns="0" bIns="0" rtlCol="0" anchor="t"/>
          <a:lstStyle/>
          <a:p>
            <a:pPr indent="0" marL="0">
              <a:buNone/>
            </a:pPr>
            <a:r>
              <a:rPr lang="en-US" sz="1500" b="1" dirty="0">
                <a:solidFill>
                  <a:schemeClr val="bg1"/>
                </a:solidFill>
              </a:rPr>
              <a:t>Upload approval</a:t>
            </a:r>
            <a:endParaRPr lang="en-US" sz="1500" dirty="0"/>
          </a:p>
          <a:p>
            <a:pPr indent="0" marL="0">
              <a:buNone/>
            </a:pPr>
            <a:r>
              <a:rPr lang="en-US" sz="1200" dirty="0">
                <a:solidFill>
                  <a:schemeClr val="bg2"/>
                </a:solidFill>
              </a:rPr>
              <a:t>None, first upload only, or every upload. Nothing lands until the owner accepts.</a:t>
            </a:r>
            <a:endParaRPr lang="en-US" sz="1500" dirty="0"/>
          </a:p>
        </p:txBody>
      </p:sp>
      <p:sp>
        <p:nvSpPr>
          <p:cNvPr id="10" name="Security 3 circle"/>
          <p:cNvSpPr/>
          <p:nvPr/>
        </p:nvSpPr>
        <p:spPr>
          <a:xfrm>
            <a:off x="457200" y="2423160"/>
            <a:ext cx="502920" cy="502920"/>
          </a:xfrm>
          <a:prstGeom prst="ellipse">
            <a:avLst/>
          </a:prstGeom>
          <a:solidFill>
            <a:schemeClr val="accent3"/>
          </a:solidFill>
          <a:ln/>
        </p:spPr>
      </p:sp>
      <p:pic>
        <p:nvPicPr>
          <p:cNvPr id="11" name="Security 3 icon" descr="preencoded.png">    </p:cNvPr>
          <p:cNvPicPr>
            <a:picLocks noChangeAspect="1"/>
          </p:cNvPicPr>
          <p:nvPr/>
        </p:nvPicPr>
        <p:blipFill>
          <a:blip r:embed="rId3"/>
          <a:stretch>
            <a:fillRect/>
          </a:stretch>
        </p:blipFill>
        <p:spPr>
          <a:xfrm>
            <a:off x="577901" y="2543861"/>
            <a:ext cx="261518" cy="261518"/>
          </a:xfrm>
          <a:prstGeom prst="rect">
            <a:avLst/>
          </a:prstGeom>
        </p:spPr>
      </p:pic>
      <p:sp>
        <p:nvSpPr>
          <p:cNvPr id="12" name="Security text 3"/>
          <p:cNvSpPr txBox="1"/>
          <p:nvPr/>
        </p:nvSpPr>
        <p:spPr>
          <a:xfrm>
            <a:off x="1143000" y="2377440"/>
            <a:ext cx="3291840" cy="914400"/>
          </a:xfrm>
          <a:prstGeom prst="rect">
            <a:avLst/>
          </a:prstGeom>
          <a:noFill/>
          <a:ln/>
        </p:spPr>
        <p:txBody>
          <a:bodyPr wrap="square" lIns="0" tIns="0" rIns="0" bIns="0" rtlCol="0" anchor="t"/>
          <a:lstStyle/>
          <a:p>
            <a:pPr indent="0" marL="0">
              <a:buNone/>
            </a:pPr>
            <a:r>
              <a:rPr lang="en-US" sz="1500" b="1" dirty="0">
                <a:solidFill>
                  <a:schemeClr val="bg1"/>
                </a:solidFill>
              </a:rPr>
              <a:t>Encryption</a:t>
            </a:r>
            <a:endParaRPr lang="en-US" sz="1500" dirty="0"/>
          </a:p>
          <a:p>
            <a:pPr indent="0" marL="0">
              <a:buNone/>
            </a:pPr>
            <a:r>
              <a:rPr lang="en-US" sz="1200" dirty="0">
                <a:solidFill>
                  <a:schemeClr val="bg2"/>
                </a:solidFill>
              </a:rPr>
              <a:t>TLS 1.3 with pinned device certificates; chat and control messages E2E (AES-256-GCM).</a:t>
            </a:r>
            <a:endParaRPr lang="en-US" sz="1500" dirty="0"/>
          </a:p>
        </p:txBody>
      </p:sp>
      <p:sp>
        <p:nvSpPr>
          <p:cNvPr id="13" name="Security 4 circle"/>
          <p:cNvSpPr/>
          <p:nvPr/>
        </p:nvSpPr>
        <p:spPr>
          <a:xfrm>
            <a:off x="4663440" y="2423160"/>
            <a:ext cx="502920" cy="502920"/>
          </a:xfrm>
          <a:prstGeom prst="ellipse">
            <a:avLst/>
          </a:prstGeom>
          <a:solidFill>
            <a:schemeClr val="accent4"/>
          </a:solidFill>
          <a:ln/>
        </p:spPr>
      </p:sp>
      <p:pic>
        <p:nvPicPr>
          <p:cNvPr id="14" name="Security 4 icon" descr="preencoded.png">    </p:cNvPr>
          <p:cNvPicPr>
            <a:picLocks noChangeAspect="1"/>
          </p:cNvPicPr>
          <p:nvPr/>
        </p:nvPicPr>
        <p:blipFill>
          <a:blip r:embed="rId4"/>
          <a:stretch>
            <a:fillRect/>
          </a:stretch>
        </p:blipFill>
        <p:spPr>
          <a:xfrm>
            <a:off x="4784141" y="2543861"/>
            <a:ext cx="261518" cy="261518"/>
          </a:xfrm>
          <a:prstGeom prst="rect">
            <a:avLst/>
          </a:prstGeom>
        </p:spPr>
      </p:pic>
      <p:sp>
        <p:nvSpPr>
          <p:cNvPr id="15" name="Security text 4"/>
          <p:cNvSpPr txBox="1"/>
          <p:nvPr/>
        </p:nvSpPr>
        <p:spPr>
          <a:xfrm>
            <a:off x="5349240" y="2377440"/>
            <a:ext cx="3291840" cy="914400"/>
          </a:xfrm>
          <a:prstGeom prst="rect">
            <a:avLst/>
          </a:prstGeom>
          <a:noFill/>
          <a:ln/>
        </p:spPr>
        <p:txBody>
          <a:bodyPr wrap="square" lIns="0" tIns="0" rIns="0" bIns="0" rtlCol="0" anchor="t"/>
          <a:lstStyle/>
          <a:p>
            <a:pPr indent="0" marL="0">
              <a:buNone/>
            </a:pPr>
            <a:r>
              <a:rPr lang="en-US" sz="1500" b="1" dirty="0">
                <a:solidFill>
                  <a:schemeClr val="bg1"/>
                </a:solidFill>
              </a:rPr>
              <a:t>Devices &amp; accounts</a:t>
            </a:r>
            <a:endParaRPr lang="en-US" sz="1500" dirty="0"/>
          </a:p>
          <a:p>
            <a:pPr indent="0" marL="0">
              <a:buNone/>
            </a:pPr>
            <a:r>
              <a:rPr lang="en-US" sz="1200" dirty="0">
                <a:solidFill>
                  <a:schemeClr val="bg2"/>
                </a:solidFill>
              </a:rPr>
              <a:t>Per-install ECDSA keys, revocable on the web. JWT sessions with rotating refresh.</a:t>
            </a:r>
            <a:endParaRPr lang="en-US" sz="1500" dirty="0"/>
          </a:p>
        </p:txBody>
      </p:sp>
      <p:sp>
        <p:nvSpPr>
          <p:cNvPr id="16" name="OTP label"/>
          <p:cNvSpPr txBox="1"/>
          <p:nvPr/>
        </p:nvSpPr>
        <p:spPr>
          <a:xfrm>
            <a:off x="457200" y="3657600"/>
            <a:ext cx="8229600" cy="274320"/>
          </a:xfrm>
          <a:prstGeom prst="rect">
            <a:avLst/>
          </a:prstGeom>
          <a:noFill/>
          <a:ln/>
        </p:spPr>
        <p:txBody>
          <a:bodyPr wrap="square" lIns="0" tIns="0" rIns="0" bIns="0" rtlCol="0" anchor="ctr"/>
          <a:lstStyle/>
          <a:p>
            <a:pPr indent="0" marL="0">
              <a:buNone/>
            </a:pPr>
            <a:r>
              <a:rPr lang="en-US" sz="1200" dirty="0">
                <a:solidFill>
                  <a:schemeClr val="bg2"/>
                </a:solidFill>
              </a:rPr>
              <a:t>OTP delivered by</a:t>
            </a:r>
            <a:endParaRPr lang="en-US" sz="1200" dirty="0"/>
          </a:p>
        </p:txBody>
      </p:sp>
      <p:sp>
        <p:nvSpPr>
          <p:cNvPr id="17" name="OTP chip 1"/>
          <p:cNvSpPr/>
          <p:nvPr/>
        </p:nvSpPr>
        <p:spPr>
          <a:xfrm>
            <a:off x="457200" y="4005072"/>
            <a:ext cx="1554480" cy="502920"/>
          </a:xfrm>
          <a:prstGeom prst="roundRect">
            <a:avLst>
              <a:gd name="adj" fmla="val 14545"/>
            </a:avLst>
          </a:prstGeom>
          <a:solidFill>
            <a:schemeClr val="tx2"/>
          </a:solidFill>
          <a:ln/>
        </p:spPr>
      </p:sp>
      <p:pic>
        <p:nvPicPr>
          <p:cNvPr id="18" name="OTP icon 1" descr="preencoded.png">    </p:cNvPr>
          <p:cNvPicPr>
            <a:picLocks noChangeAspect="1"/>
          </p:cNvPicPr>
          <p:nvPr/>
        </p:nvPicPr>
        <p:blipFill>
          <a:blip r:embed="rId5"/>
          <a:stretch>
            <a:fillRect/>
          </a:stretch>
        </p:blipFill>
        <p:spPr>
          <a:xfrm>
            <a:off x="594360" y="4096512"/>
            <a:ext cx="320040" cy="320040"/>
          </a:xfrm>
          <a:prstGeom prst="rect">
            <a:avLst/>
          </a:prstGeom>
        </p:spPr>
      </p:pic>
      <p:sp>
        <p:nvSpPr>
          <p:cNvPr id="19" name="OTP chip text 1"/>
          <p:cNvSpPr txBox="1"/>
          <p:nvPr/>
        </p:nvSpPr>
        <p:spPr>
          <a:xfrm>
            <a:off x="1005840" y="4005072"/>
            <a:ext cx="960120" cy="502920"/>
          </a:xfrm>
          <a:prstGeom prst="rect">
            <a:avLst/>
          </a:prstGeom>
          <a:noFill/>
          <a:ln/>
        </p:spPr>
        <p:txBody>
          <a:bodyPr wrap="square" lIns="0" tIns="0" rIns="0" bIns="0" rtlCol="0" anchor="ctr"/>
          <a:lstStyle/>
          <a:p>
            <a:pPr indent="0" marL="0">
              <a:buNone/>
            </a:pPr>
            <a:r>
              <a:rPr lang="en-US" sz="1400" b="1" dirty="0">
                <a:solidFill>
                  <a:schemeClr val="bg1"/>
                </a:solidFill>
              </a:rPr>
              <a:t>E-mail</a:t>
            </a:r>
            <a:endParaRPr lang="en-US" sz="1400" dirty="0"/>
          </a:p>
        </p:txBody>
      </p:sp>
      <p:sp>
        <p:nvSpPr>
          <p:cNvPr id="20" name="OTP chip 2"/>
          <p:cNvSpPr/>
          <p:nvPr/>
        </p:nvSpPr>
        <p:spPr>
          <a:xfrm>
            <a:off x="2194560" y="4005072"/>
            <a:ext cx="1554480" cy="502920"/>
          </a:xfrm>
          <a:prstGeom prst="roundRect">
            <a:avLst>
              <a:gd name="adj" fmla="val 14545"/>
            </a:avLst>
          </a:prstGeom>
          <a:solidFill>
            <a:schemeClr val="tx2"/>
          </a:solidFill>
          <a:ln/>
        </p:spPr>
      </p:sp>
      <p:pic>
        <p:nvPicPr>
          <p:cNvPr id="21" name="OTP icon 2" descr="preencoded.png">    </p:cNvPr>
          <p:cNvPicPr>
            <a:picLocks noChangeAspect="1"/>
          </p:cNvPicPr>
          <p:nvPr/>
        </p:nvPicPr>
        <p:blipFill>
          <a:blip r:embed="rId6"/>
          <a:stretch>
            <a:fillRect/>
          </a:stretch>
        </p:blipFill>
        <p:spPr>
          <a:xfrm>
            <a:off x="2331720" y="4096512"/>
            <a:ext cx="320040" cy="320040"/>
          </a:xfrm>
          <a:prstGeom prst="rect">
            <a:avLst/>
          </a:prstGeom>
        </p:spPr>
      </p:pic>
      <p:sp>
        <p:nvSpPr>
          <p:cNvPr id="22" name="OTP chip text 2"/>
          <p:cNvSpPr txBox="1"/>
          <p:nvPr/>
        </p:nvSpPr>
        <p:spPr>
          <a:xfrm>
            <a:off x="2743200" y="4005072"/>
            <a:ext cx="960120" cy="502920"/>
          </a:xfrm>
          <a:prstGeom prst="rect">
            <a:avLst/>
          </a:prstGeom>
          <a:noFill/>
          <a:ln/>
        </p:spPr>
        <p:txBody>
          <a:bodyPr wrap="square" lIns="0" tIns="0" rIns="0" bIns="0" rtlCol="0" anchor="ctr"/>
          <a:lstStyle/>
          <a:p>
            <a:pPr indent="0" marL="0">
              <a:buNone/>
            </a:pPr>
            <a:r>
              <a:rPr lang="en-US" sz="1400" b="1" dirty="0">
                <a:solidFill>
                  <a:schemeClr val="bg1"/>
                </a:solidFill>
              </a:rPr>
              <a:t>SMS</a:t>
            </a:r>
            <a:endParaRPr lang="en-US" sz="1400" dirty="0"/>
          </a:p>
        </p:txBody>
      </p:sp>
      <p:sp>
        <p:nvSpPr>
          <p:cNvPr id="23" name="OTP chip 3"/>
          <p:cNvSpPr/>
          <p:nvPr/>
        </p:nvSpPr>
        <p:spPr>
          <a:xfrm>
            <a:off x="3931920" y="4005072"/>
            <a:ext cx="1554480" cy="502920"/>
          </a:xfrm>
          <a:prstGeom prst="roundRect">
            <a:avLst>
              <a:gd name="adj" fmla="val 14545"/>
            </a:avLst>
          </a:prstGeom>
          <a:solidFill>
            <a:schemeClr val="tx2"/>
          </a:solidFill>
          <a:ln/>
        </p:spPr>
      </p:sp>
      <p:pic>
        <p:nvPicPr>
          <p:cNvPr id="24" name="OTP icon 3" descr="preencoded.png">    </p:cNvPr>
          <p:cNvPicPr>
            <a:picLocks noChangeAspect="1"/>
          </p:cNvPicPr>
          <p:nvPr/>
        </p:nvPicPr>
        <p:blipFill>
          <a:blip r:embed="rId7"/>
          <a:stretch>
            <a:fillRect/>
          </a:stretch>
        </p:blipFill>
        <p:spPr>
          <a:xfrm>
            <a:off x="4069080" y="4096512"/>
            <a:ext cx="320040" cy="320040"/>
          </a:xfrm>
          <a:prstGeom prst="rect">
            <a:avLst/>
          </a:prstGeom>
        </p:spPr>
      </p:pic>
      <p:sp>
        <p:nvSpPr>
          <p:cNvPr id="25" name="OTP chip text 3"/>
          <p:cNvSpPr txBox="1"/>
          <p:nvPr/>
        </p:nvSpPr>
        <p:spPr>
          <a:xfrm>
            <a:off x="4480560" y="4005072"/>
            <a:ext cx="960120" cy="502920"/>
          </a:xfrm>
          <a:prstGeom prst="rect">
            <a:avLst/>
          </a:prstGeom>
          <a:noFill/>
          <a:ln/>
        </p:spPr>
        <p:txBody>
          <a:bodyPr wrap="square" lIns="0" tIns="0" rIns="0" bIns="0" rtlCol="0" anchor="ctr"/>
          <a:lstStyle/>
          <a:p>
            <a:pPr indent="0" marL="0">
              <a:buNone/>
            </a:pPr>
            <a:r>
              <a:rPr lang="en-US" sz="1400" b="1" dirty="0">
                <a:solidFill>
                  <a:schemeClr val="bg1"/>
                </a:solidFill>
              </a:rPr>
              <a:t>WhatsApp</a:t>
            </a:r>
            <a:endParaRPr lang="en-US" sz="1400" dirty="0"/>
          </a:p>
        </p:txBody>
      </p:sp>
      <p:sp>
        <p:nvSpPr>
          <p:cNvPr id="26" name="Activity log note"/>
          <p:cNvSpPr txBox="1"/>
          <p:nvPr/>
        </p:nvSpPr>
        <p:spPr>
          <a:xfrm>
            <a:off x="5760720" y="4005072"/>
            <a:ext cx="2926080" cy="502920"/>
          </a:xfrm>
          <a:prstGeom prst="rect">
            <a:avLst/>
          </a:prstGeom>
          <a:noFill/>
          <a:ln/>
        </p:spPr>
        <p:txBody>
          <a:bodyPr wrap="square" lIns="0" tIns="0" rIns="0" bIns="0" rtlCol="0" anchor="ctr"/>
          <a:lstStyle/>
          <a:p>
            <a:pPr indent="0" marL="0">
              <a:buNone/>
            </a:pPr>
            <a:r>
              <a:rPr lang="en-US" sz="1200" i="1" dirty="0">
                <a:solidFill>
                  <a:schemeClr val="bg2"/>
                </a:solidFill>
              </a:rPr>
              <a:t>Full activity log: uploads, downloads, renames, deletes, joins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A transfer engine built for huge files</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10 GB, 100 GB and beyond - chunked, verified and resumable</a:t>
            </a:r>
            <a:endParaRPr lang="en-US" sz="1400" dirty="0"/>
          </a:p>
        </p:txBody>
      </p:sp>
      <p:sp>
        <p:nvSpPr>
          <p:cNvPr id="4" name="Stat 1"/>
          <p:cNvSpPr txBox="1"/>
          <p:nvPr/>
        </p:nvSpPr>
        <p:spPr>
          <a:xfrm>
            <a:off x="457200" y="1325880"/>
            <a:ext cx="3108960" cy="548640"/>
          </a:xfrm>
          <a:prstGeom prst="rect">
            <a:avLst/>
          </a:prstGeom>
          <a:noFill/>
          <a:ln/>
        </p:spPr>
        <p:txBody>
          <a:bodyPr wrap="square" lIns="0" tIns="0" rIns="0" bIns="0" rtlCol="0" anchor="ctr"/>
          <a:lstStyle/>
          <a:p>
            <a:pPr indent="0" marL="0">
              <a:buNone/>
            </a:pPr>
            <a:r>
              <a:rPr lang="en-US" sz="3200" b="1" dirty="0">
                <a:solidFill>
                  <a:schemeClr val="accent1"/>
                </a:solidFill>
              </a:rPr>
              <a:t>355 MB/s</a:t>
            </a:r>
            <a:endParaRPr lang="en-US" sz="3200" dirty="0"/>
          </a:p>
        </p:txBody>
      </p:sp>
      <p:sp>
        <p:nvSpPr>
          <p:cNvPr id="5" name="Stat label 1"/>
          <p:cNvSpPr txBox="1"/>
          <p:nvPr/>
        </p:nvSpPr>
        <p:spPr>
          <a:xfrm>
            <a:off x="457200" y="1874520"/>
            <a:ext cx="3108960" cy="320040"/>
          </a:xfrm>
          <a:prstGeom prst="rect">
            <a:avLst/>
          </a:prstGeom>
          <a:noFill/>
          <a:ln/>
        </p:spPr>
        <p:txBody>
          <a:bodyPr wrap="square" lIns="0" tIns="0" rIns="0" bIns="0" rtlCol="0" anchor="ctr"/>
          <a:lstStyle/>
          <a:p>
            <a:pPr indent="0" marL="0">
              <a:buNone/>
            </a:pPr>
            <a:r>
              <a:rPr lang="en-US" sz="1300" dirty="0">
                <a:solidFill>
                  <a:schemeClr val="tx2"/>
                </a:solidFill>
              </a:rPr>
              <a:t>measured on a 3 GB file (~2.8 Gbit/s)</a:t>
            </a:r>
            <a:endParaRPr lang="en-US" sz="1300" dirty="0"/>
          </a:p>
        </p:txBody>
      </p:sp>
      <p:sp>
        <p:nvSpPr>
          <p:cNvPr id="6" name="Stat 2"/>
          <p:cNvSpPr txBox="1"/>
          <p:nvPr/>
        </p:nvSpPr>
        <p:spPr>
          <a:xfrm>
            <a:off x="457200" y="2404872"/>
            <a:ext cx="3108960" cy="548640"/>
          </a:xfrm>
          <a:prstGeom prst="rect">
            <a:avLst/>
          </a:prstGeom>
          <a:noFill/>
          <a:ln/>
        </p:spPr>
        <p:txBody>
          <a:bodyPr wrap="square" lIns="0" tIns="0" rIns="0" bIns="0" rtlCol="0" anchor="ctr"/>
          <a:lstStyle/>
          <a:p>
            <a:pPr indent="0" marL="0">
              <a:buNone/>
            </a:pPr>
            <a:r>
              <a:rPr lang="en-US" sz="3200" b="1" dirty="0">
                <a:solidFill>
                  <a:schemeClr val="accent2"/>
                </a:solidFill>
              </a:rPr>
              <a:t>8 MiB</a:t>
            </a:r>
            <a:endParaRPr lang="en-US" sz="3200" dirty="0"/>
          </a:p>
        </p:txBody>
      </p:sp>
      <p:sp>
        <p:nvSpPr>
          <p:cNvPr id="7" name="Stat label 2"/>
          <p:cNvSpPr txBox="1"/>
          <p:nvPr/>
        </p:nvSpPr>
        <p:spPr>
          <a:xfrm>
            <a:off x="457200" y="2953512"/>
            <a:ext cx="3108960" cy="320040"/>
          </a:xfrm>
          <a:prstGeom prst="rect">
            <a:avLst/>
          </a:prstGeom>
          <a:noFill/>
          <a:ln/>
        </p:spPr>
        <p:txBody>
          <a:bodyPr wrap="square" lIns="0" tIns="0" rIns="0" bIns="0" rtlCol="0" anchor="ctr"/>
          <a:lstStyle/>
          <a:p>
            <a:pPr indent="0" marL="0">
              <a:buNone/>
            </a:pPr>
            <a:r>
              <a:rPr lang="en-US" sz="1300" dirty="0">
                <a:solidFill>
                  <a:schemeClr val="tx2"/>
                </a:solidFill>
              </a:rPr>
              <a:t>chunks, each SHA-256 verified</a:t>
            </a:r>
            <a:endParaRPr lang="en-US" sz="1300" dirty="0"/>
          </a:p>
        </p:txBody>
      </p:sp>
      <p:sp>
        <p:nvSpPr>
          <p:cNvPr id="8" name="Stat 3"/>
          <p:cNvSpPr txBox="1"/>
          <p:nvPr/>
        </p:nvSpPr>
        <p:spPr>
          <a:xfrm>
            <a:off x="457200" y="3483864"/>
            <a:ext cx="3108960" cy="548640"/>
          </a:xfrm>
          <a:prstGeom prst="rect">
            <a:avLst/>
          </a:prstGeom>
          <a:noFill/>
          <a:ln/>
        </p:spPr>
        <p:txBody>
          <a:bodyPr wrap="square" lIns="0" tIns="0" rIns="0" bIns="0" rtlCol="0" anchor="ctr"/>
          <a:lstStyle/>
          <a:p>
            <a:pPr indent="0" marL="0">
              <a:buNone/>
            </a:pPr>
            <a:r>
              <a:rPr lang="en-US" sz="3200" b="1" dirty="0">
                <a:solidFill>
                  <a:schemeClr val="accent3"/>
                </a:solidFill>
              </a:rPr>
              <a:t>&lt; 512 MB</a:t>
            </a:r>
            <a:endParaRPr lang="en-US" sz="3200" dirty="0"/>
          </a:p>
        </p:txBody>
      </p:sp>
      <p:sp>
        <p:nvSpPr>
          <p:cNvPr id="9" name="Stat label 3"/>
          <p:cNvSpPr txBox="1"/>
          <p:nvPr/>
        </p:nvSpPr>
        <p:spPr>
          <a:xfrm>
            <a:off x="457200" y="4032504"/>
            <a:ext cx="3108960" cy="320040"/>
          </a:xfrm>
          <a:prstGeom prst="rect">
            <a:avLst/>
          </a:prstGeom>
          <a:noFill/>
          <a:ln/>
        </p:spPr>
        <p:txBody>
          <a:bodyPr wrap="square" lIns="0" tIns="0" rIns="0" bIns="0" rtlCol="0" anchor="ctr"/>
          <a:lstStyle/>
          <a:p>
            <a:pPr indent="0" marL="0">
              <a:buNone/>
            </a:pPr>
            <a:r>
              <a:rPr lang="en-US" sz="1300" dirty="0">
                <a:solidFill>
                  <a:schemeClr val="tx2"/>
                </a:solidFill>
              </a:rPr>
              <a:t>RAM for any file size</a:t>
            </a:r>
            <a:endParaRPr lang="en-US" sz="1300" dirty="0"/>
          </a:p>
        </p:txBody>
      </p:sp>
      <p:sp>
        <p:nvSpPr>
          <p:cNvPr id="10" name="Engine 1"/>
          <p:cNvSpPr/>
          <p:nvPr/>
        </p:nvSpPr>
        <p:spPr>
          <a:xfrm>
            <a:off x="3931920" y="1325880"/>
            <a:ext cx="2240280" cy="1463040"/>
          </a:xfrm>
          <a:prstGeom prst="roundRect">
            <a:avLst>
              <a:gd name="adj" fmla="val 5000"/>
            </a:avLst>
          </a:prstGeom>
          <a:solidFill>
            <a:schemeClr val="bg2"/>
          </a:solidFill>
          <a:ln/>
        </p:spPr>
      </p:sp>
      <p:sp>
        <p:nvSpPr>
          <p:cNvPr id="11" name="Engine 1 circle"/>
          <p:cNvSpPr/>
          <p:nvPr/>
        </p:nvSpPr>
        <p:spPr>
          <a:xfrm>
            <a:off x="4096512" y="1490472"/>
            <a:ext cx="411480" cy="411480"/>
          </a:xfrm>
          <a:prstGeom prst="ellipse">
            <a:avLst/>
          </a:prstGeom>
          <a:solidFill>
            <a:schemeClr val="accent1"/>
          </a:solidFill>
          <a:ln/>
        </p:spPr>
      </p:sp>
      <p:pic>
        <p:nvPicPr>
          <p:cNvPr id="12" name="Engine 1 icon" descr="preencoded.png">    </p:cNvPr>
          <p:cNvPicPr>
            <a:picLocks noChangeAspect="1"/>
          </p:cNvPicPr>
          <p:nvPr/>
        </p:nvPicPr>
        <p:blipFill>
          <a:blip r:embed="rId1"/>
          <a:stretch>
            <a:fillRect/>
          </a:stretch>
        </p:blipFill>
        <p:spPr>
          <a:xfrm>
            <a:off x="4195267" y="1589227"/>
            <a:ext cx="213970" cy="213970"/>
          </a:xfrm>
          <a:prstGeom prst="rect">
            <a:avLst/>
          </a:prstGeom>
        </p:spPr>
      </p:pic>
      <p:sp>
        <p:nvSpPr>
          <p:cNvPr id="13" name="Engine head 1"/>
          <p:cNvSpPr txBox="1"/>
          <p:nvPr/>
        </p:nvSpPr>
        <p:spPr>
          <a:xfrm>
            <a:off x="4617720" y="1490472"/>
            <a:ext cx="1463040" cy="411480"/>
          </a:xfrm>
          <a:prstGeom prst="rect">
            <a:avLst/>
          </a:prstGeom>
          <a:noFill/>
          <a:ln/>
        </p:spPr>
        <p:txBody>
          <a:bodyPr wrap="square" lIns="0" tIns="0" rIns="0" bIns="0" rtlCol="0" anchor="ctr"/>
          <a:lstStyle/>
          <a:p>
            <a:pPr indent="0" marL="0">
              <a:buNone/>
            </a:pPr>
            <a:r>
              <a:rPr lang="en-US" sz="1400" b="1" dirty="0">
                <a:solidFill>
                  <a:schemeClr val="tx1"/>
                </a:solidFill>
              </a:rPr>
              <a:t>Resume anywhere</a:t>
            </a:r>
            <a:endParaRPr lang="en-US" sz="1400" dirty="0"/>
          </a:p>
        </p:txBody>
      </p:sp>
      <p:sp>
        <p:nvSpPr>
          <p:cNvPr id="14" name="Engine text 1"/>
          <p:cNvSpPr txBox="1"/>
          <p:nvPr/>
        </p:nvSpPr>
        <p:spPr>
          <a:xfrm>
            <a:off x="4096512" y="1984248"/>
            <a:ext cx="1938528" cy="731520"/>
          </a:xfrm>
          <a:prstGeom prst="rect">
            <a:avLst/>
          </a:prstGeom>
          <a:noFill/>
          <a:ln/>
        </p:spPr>
        <p:txBody>
          <a:bodyPr wrap="square" lIns="0" tIns="0" rIns="0" bIns="0" rtlCol="0" anchor="t"/>
          <a:lstStyle/>
          <a:p>
            <a:pPr indent="0" marL="0">
              <a:buNone/>
            </a:pPr>
            <a:r>
              <a:rPr lang="en-US" sz="1200" dirty="0">
                <a:solidFill>
                  <a:schemeClr val="tx2"/>
                </a:solidFill>
              </a:rPr>
              <a:t>Network drop or power cut? Continue from the last verified chunk.</a:t>
            </a:r>
            <a:endParaRPr lang="en-US" sz="1200" dirty="0"/>
          </a:p>
        </p:txBody>
      </p:sp>
      <p:sp>
        <p:nvSpPr>
          <p:cNvPr id="15" name="Engine 2"/>
          <p:cNvSpPr/>
          <p:nvPr/>
        </p:nvSpPr>
        <p:spPr>
          <a:xfrm>
            <a:off x="6355080" y="1325880"/>
            <a:ext cx="2240280" cy="1463040"/>
          </a:xfrm>
          <a:prstGeom prst="roundRect">
            <a:avLst>
              <a:gd name="adj" fmla="val 5000"/>
            </a:avLst>
          </a:prstGeom>
          <a:solidFill>
            <a:schemeClr val="bg2"/>
          </a:solidFill>
          <a:ln/>
        </p:spPr>
      </p:sp>
      <p:sp>
        <p:nvSpPr>
          <p:cNvPr id="16" name="Engine 2 circle"/>
          <p:cNvSpPr/>
          <p:nvPr/>
        </p:nvSpPr>
        <p:spPr>
          <a:xfrm>
            <a:off x="6519672" y="1490472"/>
            <a:ext cx="411480" cy="411480"/>
          </a:xfrm>
          <a:prstGeom prst="ellipse">
            <a:avLst/>
          </a:prstGeom>
          <a:solidFill>
            <a:schemeClr val="accent2"/>
          </a:solidFill>
          <a:ln/>
        </p:spPr>
      </p:sp>
      <p:pic>
        <p:nvPicPr>
          <p:cNvPr id="17" name="Engine 2 icon" descr="preencoded.png">    </p:cNvPr>
          <p:cNvPicPr>
            <a:picLocks noChangeAspect="1"/>
          </p:cNvPicPr>
          <p:nvPr/>
        </p:nvPicPr>
        <p:blipFill>
          <a:blip r:embed="rId2"/>
          <a:stretch>
            <a:fillRect/>
          </a:stretch>
        </p:blipFill>
        <p:spPr>
          <a:xfrm>
            <a:off x="6618427" y="1589227"/>
            <a:ext cx="213970" cy="213970"/>
          </a:xfrm>
          <a:prstGeom prst="rect">
            <a:avLst/>
          </a:prstGeom>
        </p:spPr>
      </p:pic>
      <p:sp>
        <p:nvSpPr>
          <p:cNvPr id="18" name="Engine head 2"/>
          <p:cNvSpPr txBox="1"/>
          <p:nvPr/>
        </p:nvSpPr>
        <p:spPr>
          <a:xfrm>
            <a:off x="7040880" y="1490472"/>
            <a:ext cx="1463040" cy="411480"/>
          </a:xfrm>
          <a:prstGeom prst="rect">
            <a:avLst/>
          </a:prstGeom>
          <a:noFill/>
          <a:ln/>
        </p:spPr>
        <p:txBody>
          <a:bodyPr wrap="square" lIns="0" tIns="0" rIns="0" bIns="0" rtlCol="0" anchor="ctr"/>
          <a:lstStyle/>
          <a:p>
            <a:pPr indent="0" marL="0">
              <a:buNone/>
            </a:pPr>
            <a:r>
              <a:rPr lang="en-US" sz="1400" b="1" dirty="0">
                <a:solidFill>
                  <a:schemeClr val="tx1"/>
                </a:solidFill>
              </a:rPr>
              <a:t>Offline outbox</a:t>
            </a:r>
            <a:endParaRPr lang="en-US" sz="1400" dirty="0"/>
          </a:p>
        </p:txBody>
      </p:sp>
      <p:sp>
        <p:nvSpPr>
          <p:cNvPr id="19" name="Engine text 2"/>
          <p:cNvSpPr txBox="1"/>
          <p:nvPr/>
        </p:nvSpPr>
        <p:spPr>
          <a:xfrm>
            <a:off x="6519672" y="1984248"/>
            <a:ext cx="1938528" cy="731520"/>
          </a:xfrm>
          <a:prstGeom prst="rect">
            <a:avLst/>
          </a:prstGeom>
          <a:noFill/>
          <a:ln/>
        </p:spPr>
        <p:txBody>
          <a:bodyPr wrap="square" lIns="0" tIns="0" rIns="0" bIns="0" rtlCol="0" anchor="t"/>
          <a:lstStyle/>
          <a:p>
            <a:pPr indent="0" marL="0">
              <a:buNone/>
            </a:pPr>
            <a:r>
              <a:rPr lang="en-US" sz="1200" dirty="0">
                <a:solidFill>
                  <a:schemeClr val="tx2"/>
                </a:solidFill>
              </a:rPr>
              <a:t>Owner offline? Files wait on the sender's PC and deliver automatically later.</a:t>
            </a:r>
            <a:endParaRPr lang="en-US" sz="1200" dirty="0"/>
          </a:p>
        </p:txBody>
      </p:sp>
      <p:sp>
        <p:nvSpPr>
          <p:cNvPr id="20" name="Engine 3"/>
          <p:cNvSpPr/>
          <p:nvPr/>
        </p:nvSpPr>
        <p:spPr>
          <a:xfrm>
            <a:off x="3931920" y="2971800"/>
            <a:ext cx="2240280" cy="1463040"/>
          </a:xfrm>
          <a:prstGeom prst="roundRect">
            <a:avLst>
              <a:gd name="adj" fmla="val 5000"/>
            </a:avLst>
          </a:prstGeom>
          <a:solidFill>
            <a:schemeClr val="bg2"/>
          </a:solidFill>
          <a:ln/>
        </p:spPr>
      </p:sp>
      <p:sp>
        <p:nvSpPr>
          <p:cNvPr id="21" name="Engine 3 circle"/>
          <p:cNvSpPr/>
          <p:nvPr/>
        </p:nvSpPr>
        <p:spPr>
          <a:xfrm>
            <a:off x="4096512" y="3136392"/>
            <a:ext cx="411480" cy="411480"/>
          </a:xfrm>
          <a:prstGeom prst="ellipse">
            <a:avLst/>
          </a:prstGeom>
          <a:solidFill>
            <a:schemeClr val="accent3"/>
          </a:solidFill>
          <a:ln/>
        </p:spPr>
      </p:sp>
      <p:pic>
        <p:nvPicPr>
          <p:cNvPr id="22" name="Engine 3 icon" descr="preencoded.png">    </p:cNvPr>
          <p:cNvPicPr>
            <a:picLocks noChangeAspect="1"/>
          </p:cNvPicPr>
          <p:nvPr/>
        </p:nvPicPr>
        <p:blipFill>
          <a:blip r:embed="rId3"/>
          <a:stretch>
            <a:fillRect/>
          </a:stretch>
        </p:blipFill>
        <p:spPr>
          <a:xfrm>
            <a:off x="4195267" y="3235147"/>
            <a:ext cx="213970" cy="213970"/>
          </a:xfrm>
          <a:prstGeom prst="rect">
            <a:avLst/>
          </a:prstGeom>
        </p:spPr>
      </p:pic>
      <p:sp>
        <p:nvSpPr>
          <p:cNvPr id="23" name="Engine head 3"/>
          <p:cNvSpPr txBox="1"/>
          <p:nvPr/>
        </p:nvSpPr>
        <p:spPr>
          <a:xfrm>
            <a:off x="4617720" y="3136392"/>
            <a:ext cx="1463040" cy="411480"/>
          </a:xfrm>
          <a:prstGeom prst="rect">
            <a:avLst/>
          </a:prstGeom>
          <a:noFill/>
          <a:ln/>
        </p:spPr>
        <p:txBody>
          <a:bodyPr wrap="square" lIns="0" tIns="0" rIns="0" bIns="0" rtlCol="0" anchor="ctr"/>
          <a:lstStyle/>
          <a:p>
            <a:pPr indent="0" marL="0">
              <a:buNone/>
            </a:pPr>
            <a:r>
              <a:rPr lang="en-US" sz="1400" b="1" dirty="0">
                <a:solidFill>
                  <a:schemeClr val="tx1"/>
                </a:solidFill>
              </a:rPr>
              <a:t>Smart connection</a:t>
            </a:r>
            <a:endParaRPr lang="en-US" sz="1400" dirty="0"/>
          </a:p>
        </p:txBody>
      </p:sp>
      <p:sp>
        <p:nvSpPr>
          <p:cNvPr id="24" name="Engine text 3"/>
          <p:cNvSpPr txBox="1"/>
          <p:nvPr/>
        </p:nvSpPr>
        <p:spPr>
          <a:xfrm>
            <a:off x="4096512" y="3630168"/>
            <a:ext cx="1938528" cy="731520"/>
          </a:xfrm>
          <a:prstGeom prst="rect">
            <a:avLst/>
          </a:prstGeom>
          <a:noFill/>
          <a:ln/>
        </p:spPr>
        <p:txBody>
          <a:bodyPr wrap="square" lIns="0" tIns="0" rIns="0" bIns="0" rtlCol="0" anchor="t"/>
          <a:lstStyle/>
          <a:p>
            <a:pPr indent="0" marL="0">
              <a:buNone/>
            </a:pPr>
            <a:r>
              <a:rPr lang="en-US" sz="1200" dirty="0">
                <a:solidFill>
                  <a:schemeClr val="tx2"/>
                </a:solidFill>
              </a:rPr>
              <a:t>LAN, IPv6, UPnP, STUN and TCP hole punching. Never a file relay.</a:t>
            </a:r>
            <a:endParaRPr lang="en-US" sz="1200" dirty="0"/>
          </a:p>
        </p:txBody>
      </p:sp>
      <p:sp>
        <p:nvSpPr>
          <p:cNvPr id="25" name="Engine 4"/>
          <p:cNvSpPr/>
          <p:nvPr/>
        </p:nvSpPr>
        <p:spPr>
          <a:xfrm>
            <a:off x="6355080" y="2971800"/>
            <a:ext cx="2240280" cy="1463040"/>
          </a:xfrm>
          <a:prstGeom prst="roundRect">
            <a:avLst>
              <a:gd name="adj" fmla="val 5000"/>
            </a:avLst>
          </a:prstGeom>
          <a:solidFill>
            <a:schemeClr val="bg2"/>
          </a:solidFill>
          <a:ln/>
        </p:spPr>
      </p:sp>
      <p:sp>
        <p:nvSpPr>
          <p:cNvPr id="26" name="Engine 4 circle"/>
          <p:cNvSpPr/>
          <p:nvPr/>
        </p:nvSpPr>
        <p:spPr>
          <a:xfrm>
            <a:off x="6519672" y="3136392"/>
            <a:ext cx="411480" cy="411480"/>
          </a:xfrm>
          <a:prstGeom prst="ellipse">
            <a:avLst/>
          </a:prstGeom>
          <a:solidFill>
            <a:schemeClr val="accent4"/>
          </a:solidFill>
          <a:ln/>
        </p:spPr>
      </p:sp>
      <p:pic>
        <p:nvPicPr>
          <p:cNvPr id="27" name="Engine 4 icon" descr="preencoded.png">    </p:cNvPr>
          <p:cNvPicPr>
            <a:picLocks noChangeAspect="1"/>
          </p:cNvPicPr>
          <p:nvPr/>
        </p:nvPicPr>
        <p:blipFill>
          <a:blip r:embed="rId4"/>
          <a:stretch>
            <a:fillRect/>
          </a:stretch>
        </p:blipFill>
        <p:spPr>
          <a:xfrm>
            <a:off x="6618427" y="3235147"/>
            <a:ext cx="213970" cy="213970"/>
          </a:xfrm>
          <a:prstGeom prst="rect">
            <a:avLst/>
          </a:prstGeom>
        </p:spPr>
      </p:pic>
      <p:sp>
        <p:nvSpPr>
          <p:cNvPr id="28" name="Engine head 4"/>
          <p:cNvSpPr txBox="1"/>
          <p:nvPr/>
        </p:nvSpPr>
        <p:spPr>
          <a:xfrm>
            <a:off x="7040880" y="3136392"/>
            <a:ext cx="1463040" cy="411480"/>
          </a:xfrm>
          <a:prstGeom prst="rect">
            <a:avLst/>
          </a:prstGeom>
          <a:noFill/>
          <a:ln/>
        </p:spPr>
        <p:txBody>
          <a:bodyPr wrap="square" lIns="0" tIns="0" rIns="0" bIns="0" rtlCol="0" anchor="ctr"/>
          <a:lstStyle/>
          <a:p>
            <a:pPr indent="0" marL="0">
              <a:buNone/>
            </a:pPr>
            <a:r>
              <a:rPr lang="en-US" sz="1400" b="1" dirty="0">
                <a:solidFill>
                  <a:schemeClr val="tx1"/>
                </a:solidFill>
              </a:rPr>
              <a:t>Thumbnails</a:t>
            </a:r>
            <a:endParaRPr lang="en-US" sz="1400" dirty="0"/>
          </a:p>
        </p:txBody>
      </p:sp>
      <p:sp>
        <p:nvSpPr>
          <p:cNvPr id="29" name="Engine text 4"/>
          <p:cNvSpPr txBox="1"/>
          <p:nvPr/>
        </p:nvSpPr>
        <p:spPr>
          <a:xfrm>
            <a:off x="6519672" y="3630168"/>
            <a:ext cx="1938528" cy="731520"/>
          </a:xfrm>
          <a:prstGeom prst="rect">
            <a:avLst/>
          </a:prstGeom>
          <a:noFill/>
          <a:ln/>
        </p:spPr>
        <p:txBody>
          <a:bodyPr wrap="square" lIns="0" tIns="0" rIns="0" bIns="0" rtlCol="0" anchor="t"/>
          <a:lstStyle/>
          <a:p>
            <a:pPr indent="0" marL="0">
              <a:buNone/>
            </a:pPr>
            <a:r>
              <a:rPr lang="en-US" sz="1200" dirty="0">
                <a:solidFill>
                  <a:schemeClr val="tx2"/>
                </a:solidFill>
              </a:rPr>
              <a:t>Image and video previews, sent end-to-end encrypted to the owner.</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One hop instead of two: half the wait</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Minutes until the receiver has a 10 GB file (same internet speed on both sides)</a:t>
            </a:r>
            <a:endParaRPr lang="en-US" sz="1400" dirty="0"/>
          </a:p>
        </p:txBody>
      </p:sp>
      <p:graphicFrame>
        <p:nvGraphicFramePr>
          <p:cNvPr id="4" name="Speed chart" descr=""/>
          <p:cNvGraphicFramePr/>
          <p:nvPr/>
        </p:nvGraphicFramePr>
        <p:xfrm>
          <a:off x="457200" y="1280160"/>
          <a:ext cx="5394960" cy="3291840"/>
        </p:xfrm>
        <a:graphic xmlns:a="http://schemas.openxmlformats.org/drawingml/2006/main">
          <a:graphicData uri="http://schemas.openxmlformats.org/drawingml/2006/chart">
            <c:chart xmlns:c="http://schemas.openxmlformats.org/drawingml/2006/chart" r:id="rId1"/>
          </a:graphicData>
        </a:graphic>
      </p:graphicFrame>
      <p:sp>
        <p:nvSpPr>
          <p:cNvPr id="5" name="Speed takeaway"/>
          <p:cNvSpPr/>
          <p:nvPr/>
        </p:nvSpPr>
        <p:spPr>
          <a:xfrm>
            <a:off x="6126480" y="1371600"/>
            <a:ext cx="2560320" cy="3108960"/>
          </a:xfrm>
          <a:prstGeom prst="roundRect">
            <a:avLst>
              <a:gd name="adj" fmla="val 2857"/>
            </a:avLst>
          </a:prstGeom>
          <a:solidFill>
            <a:schemeClr val="bg2"/>
          </a:solidFill>
          <a:ln/>
        </p:spPr>
      </p:sp>
      <p:sp>
        <p:nvSpPr>
          <p:cNvPr id="6" name="Speed takeaway text"/>
          <p:cNvSpPr txBox="1"/>
          <p:nvPr/>
        </p:nvSpPr>
        <p:spPr>
          <a:xfrm>
            <a:off x="6355080" y="1508760"/>
            <a:ext cx="2148840" cy="2834640"/>
          </a:xfrm>
          <a:prstGeom prst="rect">
            <a:avLst/>
          </a:prstGeom>
          <a:noFill/>
          <a:ln/>
        </p:spPr>
        <p:txBody>
          <a:bodyPr wrap="square" lIns="0" tIns="0" rIns="0" bIns="0" rtlCol="0" anchor="t"/>
          <a:lstStyle/>
          <a:p>
            <a:pPr indent="0" marL="0">
              <a:buNone/>
            </a:pPr>
            <a:r>
              <a:rPr lang="en-US" sz="4800" b="1" dirty="0">
                <a:solidFill>
                  <a:schemeClr val="accent1"/>
                </a:solidFill>
              </a:rPr>
              <a:t>2×</a:t>
            </a:r>
            <a:endParaRPr lang="en-US" sz="4800" dirty="0"/>
          </a:p>
          <a:p>
            <a:pPr indent="0" marL="0">
              <a:buNone/>
            </a:pPr>
            <a:r>
              <a:rPr lang="en-US" sz="1500" b="1" dirty="0">
                <a:solidFill>
                  <a:schemeClr val="tx1"/>
                </a:solidFill>
              </a:rPr>
              <a:t>faster to the receiver</a:t>
            </a:r>
            <a:endParaRPr lang="en-US" sz="4800" dirty="0"/>
          </a:p>
          <a:p>
            <a:pPr indent="0" marL="0">
              <a:buNone/>
            </a:pPr>
            <a:r>
              <a:rPr lang="en-US" sz="800" dirty="0">
                <a:solidFill>
                  <a:srgbClr val="000000"/>
                </a:solidFill>
              </a:rPr>
              <a:t> </a:t>
            </a:r>
            <a:endParaRPr lang="en-US" sz="4800" dirty="0"/>
          </a:p>
          <a:p>
            <a:pPr indent="0" marL="0">
              <a:buNone/>
            </a:pPr>
            <a:r>
              <a:rPr lang="en-US" sz="1200" dirty="0">
                <a:solidFill>
                  <a:schemeClr val="tx2"/>
                </a:solidFill>
              </a:rPr>
              <a:t>Cloud tools must finish the upload before the download can finish. FileJet writes straight into the destination folder.</a:t>
            </a:r>
            <a:endParaRPr lang="en-US" sz="4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Collaboration and full visibility</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Everyone sees what is happening - without the cloud seeing the files</a:t>
            </a:r>
            <a:endParaRPr lang="en-US" sz="1400" dirty="0"/>
          </a:p>
        </p:txBody>
      </p:sp>
      <p:sp>
        <p:nvSpPr>
          <p:cNvPr id="4" name="Collab 1"/>
          <p:cNvSpPr/>
          <p:nvPr/>
        </p:nvSpPr>
        <p:spPr>
          <a:xfrm>
            <a:off x="457200" y="1325880"/>
            <a:ext cx="2596896" cy="1508760"/>
          </a:xfrm>
          <a:prstGeom prst="roundRect">
            <a:avLst>
              <a:gd name="adj" fmla="val 4848"/>
            </a:avLst>
          </a:prstGeom>
          <a:solidFill>
            <a:schemeClr val="bg2"/>
          </a:solidFill>
          <a:ln/>
        </p:spPr>
      </p:sp>
      <p:sp>
        <p:nvSpPr>
          <p:cNvPr id="5" name="Collab 1 circle"/>
          <p:cNvSpPr/>
          <p:nvPr/>
        </p:nvSpPr>
        <p:spPr>
          <a:xfrm>
            <a:off x="640080" y="1508760"/>
            <a:ext cx="457200" cy="457200"/>
          </a:xfrm>
          <a:prstGeom prst="ellipse">
            <a:avLst/>
          </a:prstGeom>
          <a:solidFill>
            <a:schemeClr val="accent2"/>
          </a:solidFill>
          <a:ln/>
        </p:spPr>
      </p:sp>
      <p:pic>
        <p:nvPicPr>
          <p:cNvPr id="6" name="Collab 1 icon"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7" name="Collab 1 heading"/>
          <p:cNvSpPr txBox="1"/>
          <p:nvPr/>
        </p:nvSpPr>
        <p:spPr>
          <a:xfrm>
            <a:off x="1234440"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Built-in chat</a:t>
            </a:r>
            <a:endParaRPr lang="en-US" sz="1500" dirty="0"/>
          </a:p>
        </p:txBody>
      </p:sp>
      <p:sp>
        <p:nvSpPr>
          <p:cNvPr id="8" name="Collab 1 text"/>
          <p:cNvSpPr txBox="1"/>
          <p:nvPr/>
        </p:nvSpPr>
        <p:spPr>
          <a:xfrm>
            <a:off x="640080"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Chat with linked users, online status, delivered and read ticks, offline messages.</a:t>
            </a:r>
            <a:endParaRPr lang="en-US" sz="1200" dirty="0"/>
          </a:p>
        </p:txBody>
      </p:sp>
      <p:sp>
        <p:nvSpPr>
          <p:cNvPr id="9" name="Collab 2"/>
          <p:cNvSpPr/>
          <p:nvPr/>
        </p:nvSpPr>
        <p:spPr>
          <a:xfrm>
            <a:off x="3273552" y="1325880"/>
            <a:ext cx="2596896" cy="1508760"/>
          </a:xfrm>
          <a:prstGeom prst="roundRect">
            <a:avLst>
              <a:gd name="adj" fmla="val 4848"/>
            </a:avLst>
          </a:prstGeom>
          <a:solidFill>
            <a:schemeClr val="bg2"/>
          </a:solidFill>
          <a:ln/>
        </p:spPr>
      </p:sp>
      <p:sp>
        <p:nvSpPr>
          <p:cNvPr id="10" name="Collab 2 circle"/>
          <p:cNvSpPr/>
          <p:nvPr/>
        </p:nvSpPr>
        <p:spPr>
          <a:xfrm>
            <a:off x="3456432" y="1508760"/>
            <a:ext cx="457200" cy="457200"/>
          </a:xfrm>
          <a:prstGeom prst="ellipse">
            <a:avLst/>
          </a:prstGeom>
          <a:solidFill>
            <a:schemeClr val="accent1"/>
          </a:solidFill>
          <a:ln/>
        </p:spPr>
      </p:sp>
      <p:pic>
        <p:nvPicPr>
          <p:cNvPr id="11" name="Collab 2 icon" descr="preencoded.png">    </p:cNvPr>
          <p:cNvPicPr>
            <a:picLocks noChangeAspect="1"/>
          </p:cNvPicPr>
          <p:nvPr/>
        </p:nvPicPr>
        <p:blipFill>
          <a:blip r:embed="rId2"/>
          <a:stretch>
            <a:fillRect/>
          </a:stretch>
        </p:blipFill>
        <p:spPr>
          <a:xfrm>
            <a:off x="3566160" y="1618488"/>
            <a:ext cx="237744" cy="237744"/>
          </a:xfrm>
          <a:prstGeom prst="rect">
            <a:avLst/>
          </a:prstGeom>
        </p:spPr>
      </p:pic>
      <p:sp>
        <p:nvSpPr>
          <p:cNvPr id="12" name="Collab 2 heading"/>
          <p:cNvSpPr txBox="1"/>
          <p:nvPr/>
        </p:nvSpPr>
        <p:spPr>
          <a:xfrm>
            <a:off x="4050792"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Live progress</a:t>
            </a:r>
            <a:endParaRPr lang="en-US" sz="1500" dirty="0"/>
          </a:p>
        </p:txBody>
      </p:sp>
      <p:sp>
        <p:nvSpPr>
          <p:cNvPr id="13" name="Collab 2 text"/>
          <p:cNvSpPr txBox="1"/>
          <p:nvPr/>
        </p:nvSpPr>
        <p:spPr>
          <a:xfrm>
            <a:off x="3456432"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Sizes, speed and time left on both sides while a transfer runs.</a:t>
            </a:r>
            <a:endParaRPr lang="en-US" sz="1200" dirty="0"/>
          </a:p>
        </p:txBody>
      </p:sp>
      <p:sp>
        <p:nvSpPr>
          <p:cNvPr id="14" name="Collab 3"/>
          <p:cNvSpPr/>
          <p:nvPr/>
        </p:nvSpPr>
        <p:spPr>
          <a:xfrm>
            <a:off x="6089904" y="1325880"/>
            <a:ext cx="2596896" cy="1508760"/>
          </a:xfrm>
          <a:prstGeom prst="roundRect">
            <a:avLst>
              <a:gd name="adj" fmla="val 4848"/>
            </a:avLst>
          </a:prstGeom>
          <a:solidFill>
            <a:schemeClr val="bg2"/>
          </a:solidFill>
          <a:ln/>
        </p:spPr>
      </p:sp>
      <p:sp>
        <p:nvSpPr>
          <p:cNvPr id="15" name="Collab 3 circle"/>
          <p:cNvSpPr/>
          <p:nvPr/>
        </p:nvSpPr>
        <p:spPr>
          <a:xfrm>
            <a:off x="6272784" y="1508760"/>
            <a:ext cx="457200" cy="457200"/>
          </a:xfrm>
          <a:prstGeom prst="ellipse">
            <a:avLst/>
          </a:prstGeom>
          <a:solidFill>
            <a:schemeClr val="accent3"/>
          </a:solidFill>
          <a:ln/>
        </p:spPr>
      </p:sp>
      <p:pic>
        <p:nvPicPr>
          <p:cNvPr id="16" name="Collab 3 icon" descr="preencoded.png">    </p:cNvPr>
          <p:cNvPicPr>
            <a:picLocks noChangeAspect="1"/>
          </p:cNvPicPr>
          <p:nvPr/>
        </p:nvPicPr>
        <p:blipFill>
          <a:blip r:embed="rId3"/>
          <a:stretch>
            <a:fillRect/>
          </a:stretch>
        </p:blipFill>
        <p:spPr>
          <a:xfrm>
            <a:off x="6382512" y="1618488"/>
            <a:ext cx="237744" cy="237744"/>
          </a:xfrm>
          <a:prstGeom prst="rect">
            <a:avLst/>
          </a:prstGeom>
        </p:spPr>
      </p:pic>
      <p:sp>
        <p:nvSpPr>
          <p:cNvPr id="17" name="Collab 3 heading"/>
          <p:cNvSpPr txBox="1"/>
          <p:nvPr/>
        </p:nvSpPr>
        <p:spPr>
          <a:xfrm>
            <a:off x="6867144"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Received files</a:t>
            </a:r>
            <a:endParaRPr lang="en-US" sz="1500" dirty="0"/>
          </a:p>
        </p:txBody>
      </p:sp>
      <p:sp>
        <p:nvSpPr>
          <p:cNvPr id="18" name="Collab 3 text"/>
          <p:cNvSpPr txBox="1"/>
          <p:nvPr/>
        </p:nvSpPr>
        <p:spPr>
          <a:xfrm>
            <a:off x="6272784"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Owner's list of who sent what and when, with form values. Open or show in folder.</a:t>
            </a:r>
            <a:endParaRPr lang="en-US" sz="1200" dirty="0"/>
          </a:p>
        </p:txBody>
      </p:sp>
      <p:sp>
        <p:nvSpPr>
          <p:cNvPr id="19" name="Collab 4"/>
          <p:cNvSpPr/>
          <p:nvPr/>
        </p:nvSpPr>
        <p:spPr>
          <a:xfrm>
            <a:off x="457200" y="3017520"/>
            <a:ext cx="2596896" cy="1508760"/>
          </a:xfrm>
          <a:prstGeom prst="roundRect">
            <a:avLst>
              <a:gd name="adj" fmla="val 4848"/>
            </a:avLst>
          </a:prstGeom>
          <a:solidFill>
            <a:schemeClr val="bg2"/>
          </a:solidFill>
          <a:ln/>
        </p:spPr>
      </p:sp>
      <p:sp>
        <p:nvSpPr>
          <p:cNvPr id="20" name="Collab 4 circle"/>
          <p:cNvSpPr/>
          <p:nvPr/>
        </p:nvSpPr>
        <p:spPr>
          <a:xfrm>
            <a:off x="640080" y="3200400"/>
            <a:ext cx="457200" cy="457200"/>
          </a:xfrm>
          <a:prstGeom prst="ellipse">
            <a:avLst/>
          </a:prstGeom>
          <a:solidFill>
            <a:schemeClr val="accent4"/>
          </a:solidFill>
          <a:ln/>
        </p:spPr>
      </p:sp>
      <p:pic>
        <p:nvPicPr>
          <p:cNvPr id="21" name="Collab 4 icon" descr="preencoded.png">    </p:cNvPr>
          <p:cNvPicPr>
            <a:picLocks noChangeAspect="1"/>
          </p:cNvPicPr>
          <p:nvPr/>
        </p:nvPicPr>
        <p:blipFill>
          <a:blip r:embed="rId4"/>
          <a:stretch>
            <a:fillRect/>
          </a:stretch>
        </p:blipFill>
        <p:spPr>
          <a:xfrm>
            <a:off x="749808" y="3310128"/>
            <a:ext cx="237744" cy="237744"/>
          </a:xfrm>
          <a:prstGeom prst="rect">
            <a:avLst/>
          </a:prstGeom>
        </p:spPr>
      </p:pic>
      <p:sp>
        <p:nvSpPr>
          <p:cNvPr id="22" name="Collab 4 heading"/>
          <p:cNvSpPr txBox="1"/>
          <p:nvPr/>
        </p:nvSpPr>
        <p:spPr>
          <a:xfrm>
            <a:off x="1234440"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Notifications</a:t>
            </a:r>
            <a:endParaRPr lang="en-US" sz="1500" dirty="0"/>
          </a:p>
        </p:txBody>
      </p:sp>
      <p:sp>
        <p:nvSpPr>
          <p:cNvPr id="23" name="Collab 4 text"/>
          <p:cNvSpPr txBox="1"/>
          <p:nvPr/>
        </p:nvSpPr>
        <p:spPr>
          <a:xfrm>
            <a:off x="640080"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Invitation e-mails with the folder ID; one e-mail per completed batch.</a:t>
            </a:r>
            <a:endParaRPr lang="en-US" sz="1200" dirty="0"/>
          </a:p>
        </p:txBody>
      </p:sp>
      <p:sp>
        <p:nvSpPr>
          <p:cNvPr id="24" name="Collab 5"/>
          <p:cNvSpPr/>
          <p:nvPr/>
        </p:nvSpPr>
        <p:spPr>
          <a:xfrm>
            <a:off x="3273552" y="3017520"/>
            <a:ext cx="2596896" cy="1508760"/>
          </a:xfrm>
          <a:prstGeom prst="roundRect">
            <a:avLst>
              <a:gd name="adj" fmla="val 4848"/>
            </a:avLst>
          </a:prstGeom>
          <a:solidFill>
            <a:schemeClr val="bg2"/>
          </a:solidFill>
          <a:ln/>
        </p:spPr>
      </p:sp>
      <p:sp>
        <p:nvSpPr>
          <p:cNvPr id="25" name="Collab 5 circle"/>
          <p:cNvSpPr/>
          <p:nvPr/>
        </p:nvSpPr>
        <p:spPr>
          <a:xfrm>
            <a:off x="3456432" y="3200400"/>
            <a:ext cx="457200" cy="457200"/>
          </a:xfrm>
          <a:prstGeom prst="ellipse">
            <a:avLst/>
          </a:prstGeom>
          <a:solidFill>
            <a:schemeClr val="accent5"/>
          </a:solidFill>
          <a:ln/>
        </p:spPr>
      </p:sp>
      <p:pic>
        <p:nvPicPr>
          <p:cNvPr id="26" name="Collab 5 icon" descr="preencoded.png">    </p:cNvPr>
          <p:cNvPicPr>
            <a:picLocks noChangeAspect="1"/>
          </p:cNvPicPr>
          <p:nvPr/>
        </p:nvPicPr>
        <p:blipFill>
          <a:blip r:embed="rId5"/>
          <a:stretch>
            <a:fillRect/>
          </a:stretch>
        </p:blipFill>
        <p:spPr>
          <a:xfrm>
            <a:off x="3566160" y="3310128"/>
            <a:ext cx="237744" cy="237744"/>
          </a:xfrm>
          <a:prstGeom prst="rect">
            <a:avLst/>
          </a:prstGeom>
        </p:spPr>
      </p:pic>
      <p:sp>
        <p:nvSpPr>
          <p:cNvPr id="27" name="Collab 5 heading"/>
          <p:cNvSpPr txBox="1"/>
          <p:nvPr/>
        </p:nvSpPr>
        <p:spPr>
          <a:xfrm>
            <a:off x="4050792"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Web dashboard</a:t>
            </a:r>
            <a:endParaRPr lang="en-US" sz="1500" dirty="0"/>
          </a:p>
        </p:txBody>
      </p:sp>
      <p:sp>
        <p:nvSpPr>
          <p:cNvPr id="28" name="Collab 5 text"/>
          <p:cNvSpPr txBox="1"/>
          <p:nvPr/>
        </p:nvSpPr>
        <p:spPr>
          <a:xfrm>
            <a:off x="3456432"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Live transfers, full history, per-folder size and share count, users, devices.</a:t>
            </a:r>
            <a:endParaRPr lang="en-US" sz="1200" dirty="0"/>
          </a:p>
        </p:txBody>
      </p:sp>
      <p:sp>
        <p:nvSpPr>
          <p:cNvPr id="29" name="Collab 6"/>
          <p:cNvSpPr/>
          <p:nvPr/>
        </p:nvSpPr>
        <p:spPr>
          <a:xfrm>
            <a:off x="6089904" y="3017520"/>
            <a:ext cx="2596896" cy="1508760"/>
          </a:xfrm>
          <a:prstGeom prst="roundRect">
            <a:avLst>
              <a:gd name="adj" fmla="val 4848"/>
            </a:avLst>
          </a:prstGeom>
          <a:solidFill>
            <a:schemeClr val="bg2"/>
          </a:solidFill>
          <a:ln/>
        </p:spPr>
      </p:sp>
      <p:sp>
        <p:nvSpPr>
          <p:cNvPr id="30" name="Collab 6 circle"/>
          <p:cNvSpPr/>
          <p:nvPr/>
        </p:nvSpPr>
        <p:spPr>
          <a:xfrm>
            <a:off x="6272784" y="3200400"/>
            <a:ext cx="457200" cy="457200"/>
          </a:xfrm>
          <a:prstGeom prst="ellipse">
            <a:avLst/>
          </a:prstGeom>
          <a:solidFill>
            <a:schemeClr val="accent6"/>
          </a:solidFill>
          <a:ln/>
        </p:spPr>
      </p:sp>
      <p:pic>
        <p:nvPicPr>
          <p:cNvPr id="31" name="Collab 6 icon" descr="preencoded.png">    </p:cNvPr>
          <p:cNvPicPr>
            <a:picLocks noChangeAspect="1"/>
          </p:cNvPicPr>
          <p:nvPr/>
        </p:nvPicPr>
        <p:blipFill>
          <a:blip r:embed="rId6"/>
          <a:stretch>
            <a:fillRect/>
          </a:stretch>
        </p:blipFill>
        <p:spPr>
          <a:xfrm>
            <a:off x="6382512" y="3310128"/>
            <a:ext cx="237744" cy="237744"/>
          </a:xfrm>
          <a:prstGeom prst="rect">
            <a:avLst/>
          </a:prstGeom>
        </p:spPr>
      </p:pic>
      <p:sp>
        <p:nvSpPr>
          <p:cNvPr id="32" name="Collab 6 heading"/>
          <p:cNvSpPr txBox="1"/>
          <p:nvPr/>
        </p:nvSpPr>
        <p:spPr>
          <a:xfrm>
            <a:off x="6867144"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Modern desktop UI</a:t>
            </a:r>
            <a:endParaRPr lang="en-US" sz="1500" dirty="0"/>
          </a:p>
        </p:txBody>
      </p:sp>
      <p:sp>
        <p:nvSpPr>
          <p:cNvPr id="33" name="Collab 6 text"/>
          <p:cNvSpPr txBox="1"/>
          <p:nvPr/>
        </p:nvSpPr>
        <p:spPr>
          <a:xfrm>
            <a:off x="6272784"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Dark design, resizable VS Code-style panels, keyboard shortcuts, saved layout.</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Run it your way</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Self-hosted cloud, simple installers and built-in administration</a:t>
            </a:r>
            <a:endParaRPr lang="en-US" sz="1400" dirty="0"/>
          </a:p>
        </p:txBody>
      </p:sp>
      <p:sp>
        <p:nvSpPr>
          <p:cNvPr id="4" name="Admin 1"/>
          <p:cNvSpPr/>
          <p:nvPr/>
        </p:nvSpPr>
        <p:spPr>
          <a:xfrm>
            <a:off x="457200" y="1325880"/>
            <a:ext cx="2596896" cy="1508760"/>
          </a:xfrm>
          <a:prstGeom prst="roundRect">
            <a:avLst>
              <a:gd name="adj" fmla="val 4848"/>
            </a:avLst>
          </a:prstGeom>
          <a:solidFill>
            <a:schemeClr val="bg2"/>
          </a:solidFill>
          <a:ln/>
        </p:spPr>
      </p:sp>
      <p:sp>
        <p:nvSpPr>
          <p:cNvPr id="5" name="Admin 1 circle"/>
          <p:cNvSpPr/>
          <p:nvPr/>
        </p:nvSpPr>
        <p:spPr>
          <a:xfrm>
            <a:off x="640080" y="1508760"/>
            <a:ext cx="457200" cy="457200"/>
          </a:xfrm>
          <a:prstGeom prst="ellipse">
            <a:avLst/>
          </a:prstGeom>
          <a:solidFill>
            <a:schemeClr val="accent3"/>
          </a:solidFill>
          <a:ln/>
        </p:spPr>
      </p:sp>
      <p:pic>
        <p:nvPicPr>
          <p:cNvPr id="6" name="Admin 1 icon"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7" name="Admin 1 heading"/>
          <p:cNvSpPr txBox="1"/>
          <p:nvPr/>
        </p:nvSpPr>
        <p:spPr>
          <a:xfrm>
            <a:off x="1234440"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Self-hosted cloud</a:t>
            </a:r>
            <a:endParaRPr lang="en-US" sz="1500" dirty="0"/>
          </a:p>
        </p:txBody>
      </p:sp>
      <p:sp>
        <p:nvSpPr>
          <p:cNvPr id="8" name="Admin 1 text"/>
          <p:cNvSpPr txBox="1"/>
          <p:nvPr/>
        </p:nvSpPr>
        <p:spPr>
          <a:xfrm>
            <a:off x="640080"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One installer for Windows or Linux servers, starts at boot. Docker optional.</a:t>
            </a:r>
            <a:endParaRPr lang="en-US" sz="1200" dirty="0"/>
          </a:p>
        </p:txBody>
      </p:sp>
      <p:sp>
        <p:nvSpPr>
          <p:cNvPr id="9" name="Admin 2"/>
          <p:cNvSpPr/>
          <p:nvPr/>
        </p:nvSpPr>
        <p:spPr>
          <a:xfrm>
            <a:off x="3273552" y="1325880"/>
            <a:ext cx="2596896" cy="1508760"/>
          </a:xfrm>
          <a:prstGeom prst="roundRect">
            <a:avLst>
              <a:gd name="adj" fmla="val 4848"/>
            </a:avLst>
          </a:prstGeom>
          <a:solidFill>
            <a:schemeClr val="bg2"/>
          </a:solidFill>
          <a:ln/>
        </p:spPr>
      </p:sp>
      <p:sp>
        <p:nvSpPr>
          <p:cNvPr id="10" name="Admin 2 circle"/>
          <p:cNvSpPr/>
          <p:nvPr/>
        </p:nvSpPr>
        <p:spPr>
          <a:xfrm>
            <a:off x="3456432" y="1508760"/>
            <a:ext cx="457200" cy="457200"/>
          </a:xfrm>
          <a:prstGeom prst="ellipse">
            <a:avLst/>
          </a:prstGeom>
          <a:solidFill>
            <a:schemeClr val="accent1"/>
          </a:solidFill>
          <a:ln/>
        </p:spPr>
      </p:sp>
      <p:pic>
        <p:nvPicPr>
          <p:cNvPr id="11" name="Admin 2 icon" descr="preencoded.png">    </p:cNvPr>
          <p:cNvPicPr>
            <a:picLocks noChangeAspect="1"/>
          </p:cNvPicPr>
          <p:nvPr/>
        </p:nvPicPr>
        <p:blipFill>
          <a:blip r:embed="rId2"/>
          <a:stretch>
            <a:fillRect/>
          </a:stretch>
        </p:blipFill>
        <p:spPr>
          <a:xfrm>
            <a:off x="3566160" y="1618488"/>
            <a:ext cx="237744" cy="237744"/>
          </a:xfrm>
          <a:prstGeom prst="rect">
            <a:avLst/>
          </a:prstGeom>
        </p:spPr>
      </p:pic>
      <p:sp>
        <p:nvSpPr>
          <p:cNvPr id="12" name="Admin 2 heading"/>
          <p:cNvSpPr txBox="1"/>
          <p:nvPr/>
        </p:nvSpPr>
        <p:spPr>
          <a:xfrm>
            <a:off x="4050792"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Desktop app</a:t>
            </a:r>
            <a:endParaRPr lang="en-US" sz="1500" dirty="0"/>
          </a:p>
        </p:txBody>
      </p:sp>
      <p:sp>
        <p:nvSpPr>
          <p:cNvPr id="13" name="Admin 2 text"/>
          <p:cNvSpPr txBox="1"/>
          <p:nvPr/>
        </p:nvSpPr>
        <p:spPr>
          <a:xfrm>
            <a:off x="3456432"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Installable app for every user - share and receive in the same window.</a:t>
            </a:r>
            <a:endParaRPr lang="en-US" sz="1200" dirty="0"/>
          </a:p>
        </p:txBody>
      </p:sp>
      <p:sp>
        <p:nvSpPr>
          <p:cNvPr id="14" name="Admin 3"/>
          <p:cNvSpPr/>
          <p:nvPr/>
        </p:nvSpPr>
        <p:spPr>
          <a:xfrm>
            <a:off x="6089904" y="1325880"/>
            <a:ext cx="2596896" cy="1508760"/>
          </a:xfrm>
          <a:prstGeom prst="roundRect">
            <a:avLst>
              <a:gd name="adj" fmla="val 4848"/>
            </a:avLst>
          </a:prstGeom>
          <a:solidFill>
            <a:schemeClr val="bg2"/>
          </a:solidFill>
          <a:ln/>
        </p:spPr>
      </p:sp>
      <p:sp>
        <p:nvSpPr>
          <p:cNvPr id="15" name="Admin 3 circle"/>
          <p:cNvSpPr/>
          <p:nvPr/>
        </p:nvSpPr>
        <p:spPr>
          <a:xfrm>
            <a:off x="6272784" y="1508760"/>
            <a:ext cx="457200" cy="457200"/>
          </a:xfrm>
          <a:prstGeom prst="ellipse">
            <a:avLst/>
          </a:prstGeom>
          <a:solidFill>
            <a:schemeClr val="accent4"/>
          </a:solidFill>
          <a:ln/>
        </p:spPr>
      </p:sp>
      <p:pic>
        <p:nvPicPr>
          <p:cNvPr id="16" name="Admin 3 icon" descr="preencoded.png">    </p:cNvPr>
          <p:cNvPicPr>
            <a:picLocks noChangeAspect="1"/>
          </p:cNvPicPr>
          <p:nvPr/>
        </p:nvPicPr>
        <p:blipFill>
          <a:blip r:embed="rId3"/>
          <a:stretch>
            <a:fillRect/>
          </a:stretch>
        </p:blipFill>
        <p:spPr>
          <a:xfrm>
            <a:off x="6382512" y="1618488"/>
            <a:ext cx="237744" cy="237744"/>
          </a:xfrm>
          <a:prstGeom prst="rect">
            <a:avLst/>
          </a:prstGeom>
        </p:spPr>
      </p:pic>
      <p:sp>
        <p:nvSpPr>
          <p:cNvPr id="17" name="Admin 3 heading"/>
          <p:cNvSpPr txBox="1"/>
          <p:nvPr/>
        </p:nvSpPr>
        <p:spPr>
          <a:xfrm>
            <a:off x="6867144"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Super admin</a:t>
            </a:r>
            <a:endParaRPr lang="en-US" sz="1500" dirty="0"/>
          </a:p>
        </p:txBody>
      </p:sp>
      <p:sp>
        <p:nvSpPr>
          <p:cNvPr id="18" name="Admin 3 text"/>
          <p:cNvSpPr txBox="1"/>
          <p:nvPr/>
        </p:nvSpPr>
        <p:spPr>
          <a:xfrm>
            <a:off x="6272784"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Oversee all users, folders and activity from one place.</a:t>
            </a:r>
            <a:endParaRPr lang="en-US" sz="1200" dirty="0"/>
          </a:p>
        </p:txBody>
      </p:sp>
      <p:sp>
        <p:nvSpPr>
          <p:cNvPr id="19" name="Admin 4"/>
          <p:cNvSpPr/>
          <p:nvPr/>
        </p:nvSpPr>
        <p:spPr>
          <a:xfrm>
            <a:off x="457200" y="3017520"/>
            <a:ext cx="2596896" cy="1508760"/>
          </a:xfrm>
          <a:prstGeom prst="roundRect">
            <a:avLst>
              <a:gd name="adj" fmla="val 4848"/>
            </a:avLst>
          </a:prstGeom>
          <a:solidFill>
            <a:schemeClr val="bg2"/>
          </a:solidFill>
          <a:ln/>
        </p:spPr>
      </p:sp>
      <p:sp>
        <p:nvSpPr>
          <p:cNvPr id="20" name="Admin 4 circle"/>
          <p:cNvSpPr/>
          <p:nvPr/>
        </p:nvSpPr>
        <p:spPr>
          <a:xfrm>
            <a:off x="640080" y="3200400"/>
            <a:ext cx="457200" cy="457200"/>
          </a:xfrm>
          <a:prstGeom prst="ellipse">
            <a:avLst/>
          </a:prstGeom>
          <a:solidFill>
            <a:schemeClr val="accent2"/>
          </a:solidFill>
          <a:ln/>
        </p:spPr>
      </p:sp>
      <p:pic>
        <p:nvPicPr>
          <p:cNvPr id="21" name="Admin 4 icon" descr="preencoded.png">    </p:cNvPr>
          <p:cNvPicPr>
            <a:picLocks noChangeAspect="1"/>
          </p:cNvPicPr>
          <p:nvPr/>
        </p:nvPicPr>
        <p:blipFill>
          <a:blip r:embed="rId4"/>
          <a:stretch>
            <a:fillRect/>
          </a:stretch>
        </p:blipFill>
        <p:spPr>
          <a:xfrm>
            <a:off x="749808" y="3310128"/>
            <a:ext cx="237744" cy="237744"/>
          </a:xfrm>
          <a:prstGeom prst="rect">
            <a:avLst/>
          </a:prstGeom>
        </p:spPr>
      </p:pic>
      <p:sp>
        <p:nvSpPr>
          <p:cNvPr id="22" name="Admin 4 heading"/>
          <p:cNvSpPr txBox="1"/>
          <p:nvPr/>
        </p:nvSpPr>
        <p:spPr>
          <a:xfrm>
            <a:off x="1234440"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Support desk</a:t>
            </a:r>
            <a:endParaRPr lang="en-US" sz="1500" dirty="0"/>
          </a:p>
        </p:txBody>
      </p:sp>
      <p:sp>
        <p:nvSpPr>
          <p:cNvPr id="23" name="Admin 4 text"/>
          <p:cNvSpPr txBox="1"/>
          <p:nvPr/>
        </p:nvSpPr>
        <p:spPr>
          <a:xfrm>
            <a:off x="640080"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Tickets with chat-style replies, categories, priorities and assignment.</a:t>
            </a:r>
            <a:endParaRPr lang="en-US" sz="1200" dirty="0"/>
          </a:p>
        </p:txBody>
      </p:sp>
      <p:sp>
        <p:nvSpPr>
          <p:cNvPr id="24" name="Admin 5"/>
          <p:cNvSpPr/>
          <p:nvPr/>
        </p:nvSpPr>
        <p:spPr>
          <a:xfrm>
            <a:off x="3273552" y="3017520"/>
            <a:ext cx="2596896" cy="1508760"/>
          </a:xfrm>
          <a:prstGeom prst="roundRect">
            <a:avLst>
              <a:gd name="adj" fmla="val 4848"/>
            </a:avLst>
          </a:prstGeom>
          <a:solidFill>
            <a:schemeClr val="bg2"/>
          </a:solidFill>
          <a:ln/>
        </p:spPr>
      </p:sp>
      <p:sp>
        <p:nvSpPr>
          <p:cNvPr id="25" name="Admin 5 circle"/>
          <p:cNvSpPr/>
          <p:nvPr/>
        </p:nvSpPr>
        <p:spPr>
          <a:xfrm>
            <a:off x="3456432" y="3200400"/>
            <a:ext cx="457200" cy="457200"/>
          </a:xfrm>
          <a:prstGeom prst="ellipse">
            <a:avLst/>
          </a:prstGeom>
          <a:solidFill>
            <a:schemeClr val="accent6"/>
          </a:solidFill>
          <a:ln/>
        </p:spPr>
      </p:sp>
      <p:pic>
        <p:nvPicPr>
          <p:cNvPr id="26" name="Admin 5 icon" descr="preencoded.png">    </p:cNvPr>
          <p:cNvPicPr>
            <a:picLocks noChangeAspect="1"/>
          </p:cNvPicPr>
          <p:nvPr/>
        </p:nvPicPr>
        <p:blipFill>
          <a:blip r:embed="rId5"/>
          <a:stretch>
            <a:fillRect/>
          </a:stretch>
        </p:blipFill>
        <p:spPr>
          <a:xfrm>
            <a:off x="3566160" y="3310128"/>
            <a:ext cx="237744" cy="237744"/>
          </a:xfrm>
          <a:prstGeom prst="rect">
            <a:avLst/>
          </a:prstGeom>
        </p:spPr>
      </p:pic>
      <p:sp>
        <p:nvSpPr>
          <p:cNvPr id="27" name="Admin 5 heading"/>
          <p:cNvSpPr txBox="1"/>
          <p:nvPr/>
        </p:nvSpPr>
        <p:spPr>
          <a:xfrm>
            <a:off x="4050792"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Device control</a:t>
            </a:r>
            <a:endParaRPr lang="en-US" sz="1500" dirty="0"/>
          </a:p>
        </p:txBody>
      </p:sp>
      <p:sp>
        <p:nvSpPr>
          <p:cNvPr id="28" name="Admin 5 text"/>
          <p:cNvSpPr txBox="1"/>
          <p:nvPr/>
        </p:nvSpPr>
        <p:spPr>
          <a:xfrm>
            <a:off x="3456432"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See every registered device and revoke one instantly from the web.</a:t>
            </a:r>
            <a:endParaRPr lang="en-US" sz="1200" dirty="0"/>
          </a:p>
        </p:txBody>
      </p:sp>
      <p:sp>
        <p:nvSpPr>
          <p:cNvPr id="29" name="Admin 6"/>
          <p:cNvSpPr/>
          <p:nvPr/>
        </p:nvSpPr>
        <p:spPr>
          <a:xfrm>
            <a:off x="6089904" y="3017520"/>
            <a:ext cx="2596896" cy="1508760"/>
          </a:xfrm>
          <a:prstGeom prst="roundRect">
            <a:avLst>
              <a:gd name="adj" fmla="val 4848"/>
            </a:avLst>
          </a:prstGeom>
          <a:solidFill>
            <a:schemeClr val="bg2"/>
          </a:solidFill>
          <a:ln/>
        </p:spPr>
      </p:sp>
      <p:sp>
        <p:nvSpPr>
          <p:cNvPr id="30" name="Admin 6 circle"/>
          <p:cNvSpPr/>
          <p:nvPr/>
        </p:nvSpPr>
        <p:spPr>
          <a:xfrm>
            <a:off x="6272784" y="3200400"/>
            <a:ext cx="457200" cy="457200"/>
          </a:xfrm>
          <a:prstGeom prst="ellipse">
            <a:avLst/>
          </a:prstGeom>
          <a:solidFill>
            <a:schemeClr val="accent5"/>
          </a:solidFill>
          <a:ln/>
        </p:spPr>
      </p:sp>
      <p:pic>
        <p:nvPicPr>
          <p:cNvPr id="31" name="Admin 6 icon" descr="preencoded.png">    </p:cNvPr>
          <p:cNvPicPr>
            <a:picLocks noChangeAspect="1"/>
          </p:cNvPicPr>
          <p:nvPr/>
        </p:nvPicPr>
        <p:blipFill>
          <a:blip r:embed="rId6"/>
          <a:stretch>
            <a:fillRect/>
          </a:stretch>
        </p:blipFill>
        <p:spPr>
          <a:xfrm>
            <a:off x="6382512" y="3310128"/>
            <a:ext cx="237744" cy="237744"/>
          </a:xfrm>
          <a:prstGeom prst="rect">
            <a:avLst/>
          </a:prstGeom>
        </p:spPr>
      </p:pic>
      <p:sp>
        <p:nvSpPr>
          <p:cNvPr id="32" name="Admin 6 heading"/>
          <p:cNvSpPr txBox="1"/>
          <p:nvPr/>
        </p:nvSpPr>
        <p:spPr>
          <a:xfrm>
            <a:off x="6867144"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Your organization</a:t>
            </a:r>
            <a:endParaRPr lang="en-US" sz="1500" dirty="0"/>
          </a:p>
        </p:txBody>
      </p:sp>
      <p:sp>
        <p:nvSpPr>
          <p:cNvPr id="33" name="Admin 6 text"/>
          <p:cNvSpPr txBox="1"/>
          <p:nvPr/>
        </p:nvSpPr>
        <p:spPr>
          <a:xfrm>
            <a:off x="6272784"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Organization name, groups and per-folder statistics for every team.</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Who uses FileJet</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Any team that moves large or sensitive files every day</a:t>
            </a:r>
            <a:endParaRPr lang="en-US" sz="1400" dirty="0"/>
          </a:p>
        </p:txBody>
      </p:sp>
      <p:sp>
        <p:nvSpPr>
          <p:cNvPr id="4" name="Use 1"/>
          <p:cNvSpPr/>
          <p:nvPr/>
        </p:nvSpPr>
        <p:spPr>
          <a:xfrm>
            <a:off x="457200" y="1325880"/>
            <a:ext cx="2596896" cy="1508760"/>
          </a:xfrm>
          <a:prstGeom prst="roundRect">
            <a:avLst>
              <a:gd name="adj" fmla="val 4848"/>
            </a:avLst>
          </a:prstGeom>
          <a:solidFill>
            <a:schemeClr val="bg2"/>
          </a:solidFill>
          <a:ln/>
        </p:spPr>
      </p:sp>
      <p:sp>
        <p:nvSpPr>
          <p:cNvPr id="5" name="Use 1 circle"/>
          <p:cNvSpPr/>
          <p:nvPr/>
        </p:nvSpPr>
        <p:spPr>
          <a:xfrm>
            <a:off x="640080" y="1508760"/>
            <a:ext cx="457200" cy="457200"/>
          </a:xfrm>
          <a:prstGeom prst="ellipse">
            <a:avLst/>
          </a:prstGeom>
          <a:solidFill>
            <a:schemeClr val="accent1"/>
          </a:solidFill>
          <a:ln/>
        </p:spPr>
      </p:sp>
      <p:pic>
        <p:nvPicPr>
          <p:cNvPr id="6" name="Use 1 icon" descr="preencoded.png">    </p:cNvPr>
          <p:cNvPicPr>
            <a:picLocks noChangeAspect="1"/>
          </p:cNvPicPr>
          <p:nvPr/>
        </p:nvPicPr>
        <p:blipFill>
          <a:blip r:embed="rId1"/>
          <a:stretch>
            <a:fillRect/>
          </a:stretch>
        </p:blipFill>
        <p:spPr>
          <a:xfrm>
            <a:off x="749808" y="1618488"/>
            <a:ext cx="237744" cy="237744"/>
          </a:xfrm>
          <a:prstGeom prst="rect">
            <a:avLst/>
          </a:prstGeom>
        </p:spPr>
      </p:pic>
      <p:sp>
        <p:nvSpPr>
          <p:cNvPr id="7" name="Use 1 heading"/>
          <p:cNvSpPr txBox="1"/>
          <p:nvPr/>
        </p:nvSpPr>
        <p:spPr>
          <a:xfrm>
            <a:off x="1234440"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Video &amp; film studios</a:t>
            </a:r>
            <a:endParaRPr lang="en-US" sz="1500" dirty="0"/>
          </a:p>
        </p:txBody>
      </p:sp>
      <p:sp>
        <p:nvSpPr>
          <p:cNvPr id="8" name="Use 1 text"/>
          <p:cNvSpPr txBox="1"/>
          <p:nvPr/>
        </p:nvSpPr>
        <p:spPr>
          <a:xfrm>
            <a:off x="640080"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Crews send 50-200 GB of footage after every shoot into an Upload-only folder.</a:t>
            </a:r>
            <a:endParaRPr lang="en-US" sz="1200" dirty="0"/>
          </a:p>
        </p:txBody>
      </p:sp>
      <p:sp>
        <p:nvSpPr>
          <p:cNvPr id="9" name="Use 2"/>
          <p:cNvSpPr/>
          <p:nvPr/>
        </p:nvSpPr>
        <p:spPr>
          <a:xfrm>
            <a:off x="3273552" y="1325880"/>
            <a:ext cx="2596896" cy="1508760"/>
          </a:xfrm>
          <a:prstGeom prst="roundRect">
            <a:avLst>
              <a:gd name="adj" fmla="val 4848"/>
            </a:avLst>
          </a:prstGeom>
          <a:solidFill>
            <a:schemeClr val="bg2"/>
          </a:solidFill>
          <a:ln/>
        </p:spPr>
      </p:sp>
      <p:sp>
        <p:nvSpPr>
          <p:cNvPr id="10" name="Use 2 circle"/>
          <p:cNvSpPr/>
          <p:nvPr/>
        </p:nvSpPr>
        <p:spPr>
          <a:xfrm>
            <a:off x="3456432" y="1508760"/>
            <a:ext cx="457200" cy="457200"/>
          </a:xfrm>
          <a:prstGeom prst="ellipse">
            <a:avLst/>
          </a:prstGeom>
          <a:solidFill>
            <a:schemeClr val="accent4"/>
          </a:solidFill>
          <a:ln/>
        </p:spPr>
      </p:sp>
      <p:pic>
        <p:nvPicPr>
          <p:cNvPr id="11" name="Use 2 icon" descr="preencoded.png">    </p:cNvPr>
          <p:cNvPicPr>
            <a:picLocks noChangeAspect="1"/>
          </p:cNvPicPr>
          <p:nvPr/>
        </p:nvPicPr>
        <p:blipFill>
          <a:blip r:embed="rId2"/>
          <a:stretch>
            <a:fillRect/>
          </a:stretch>
        </p:blipFill>
        <p:spPr>
          <a:xfrm>
            <a:off x="3566160" y="1618488"/>
            <a:ext cx="237744" cy="237744"/>
          </a:xfrm>
          <a:prstGeom prst="rect">
            <a:avLst/>
          </a:prstGeom>
        </p:spPr>
      </p:pic>
      <p:sp>
        <p:nvSpPr>
          <p:cNvPr id="12" name="Use 2 heading"/>
          <p:cNvSpPr txBox="1"/>
          <p:nvPr/>
        </p:nvSpPr>
        <p:spPr>
          <a:xfrm>
            <a:off x="4050792"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Creative agencies</a:t>
            </a:r>
            <a:endParaRPr lang="en-US" sz="1500" dirty="0"/>
          </a:p>
        </p:txBody>
      </p:sp>
      <p:sp>
        <p:nvSpPr>
          <p:cNvPr id="13" name="Use 2 text"/>
          <p:cNvSpPr txBox="1"/>
          <p:nvPr/>
        </p:nvSpPr>
        <p:spPr>
          <a:xfrm>
            <a:off x="3456432"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Same-day 4K deliverables to clients via a View &amp; download folder.</a:t>
            </a:r>
            <a:endParaRPr lang="en-US" sz="1200" dirty="0"/>
          </a:p>
        </p:txBody>
      </p:sp>
      <p:sp>
        <p:nvSpPr>
          <p:cNvPr id="14" name="Use 3"/>
          <p:cNvSpPr/>
          <p:nvPr/>
        </p:nvSpPr>
        <p:spPr>
          <a:xfrm>
            <a:off x="6089904" y="1325880"/>
            <a:ext cx="2596896" cy="1508760"/>
          </a:xfrm>
          <a:prstGeom prst="roundRect">
            <a:avLst>
              <a:gd name="adj" fmla="val 4848"/>
            </a:avLst>
          </a:prstGeom>
          <a:solidFill>
            <a:schemeClr val="bg2"/>
          </a:solidFill>
          <a:ln/>
        </p:spPr>
      </p:sp>
      <p:sp>
        <p:nvSpPr>
          <p:cNvPr id="15" name="Use 3 circle"/>
          <p:cNvSpPr/>
          <p:nvPr/>
        </p:nvSpPr>
        <p:spPr>
          <a:xfrm>
            <a:off x="6272784" y="1508760"/>
            <a:ext cx="457200" cy="457200"/>
          </a:xfrm>
          <a:prstGeom prst="ellipse">
            <a:avLst/>
          </a:prstGeom>
          <a:solidFill>
            <a:schemeClr val="accent3"/>
          </a:solidFill>
          <a:ln/>
        </p:spPr>
      </p:sp>
      <p:pic>
        <p:nvPicPr>
          <p:cNvPr id="16" name="Use 3 icon" descr="preencoded.png">    </p:cNvPr>
          <p:cNvPicPr>
            <a:picLocks noChangeAspect="1"/>
          </p:cNvPicPr>
          <p:nvPr/>
        </p:nvPicPr>
        <p:blipFill>
          <a:blip r:embed="rId3"/>
          <a:stretch>
            <a:fillRect/>
          </a:stretch>
        </p:blipFill>
        <p:spPr>
          <a:xfrm>
            <a:off x="6382512" y="1618488"/>
            <a:ext cx="237744" cy="237744"/>
          </a:xfrm>
          <a:prstGeom prst="rect">
            <a:avLst/>
          </a:prstGeom>
        </p:spPr>
      </p:pic>
      <p:sp>
        <p:nvSpPr>
          <p:cNvPr id="17" name="Use 3 heading"/>
          <p:cNvSpPr txBox="1"/>
          <p:nvPr/>
        </p:nvSpPr>
        <p:spPr>
          <a:xfrm>
            <a:off x="6867144" y="150876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Architecture &amp; engineering</a:t>
            </a:r>
            <a:endParaRPr lang="en-US" sz="1500" dirty="0"/>
          </a:p>
        </p:txBody>
      </p:sp>
      <p:sp>
        <p:nvSpPr>
          <p:cNvPr id="18" name="Use 3 text"/>
          <p:cNvSpPr txBox="1"/>
          <p:nvPr/>
        </p:nvSpPr>
        <p:spPr>
          <a:xfrm>
            <a:off x="6272784" y="2075688"/>
            <a:ext cx="2231136" cy="640080"/>
          </a:xfrm>
          <a:prstGeom prst="rect">
            <a:avLst/>
          </a:prstGeom>
          <a:noFill/>
          <a:ln/>
        </p:spPr>
        <p:txBody>
          <a:bodyPr wrap="square" lIns="0" tIns="0" rIns="0" bIns="0" rtlCol="0" anchor="t"/>
          <a:lstStyle/>
          <a:p>
            <a:pPr indent="0" marL="0">
              <a:buNone/>
            </a:pPr>
            <a:r>
              <a:rPr lang="en-US" sz="1200" dirty="0">
                <a:solidFill>
                  <a:schemeClr val="tx2"/>
                </a:solidFill>
              </a:rPr>
              <a:t>CAD, BIM and point clouds between offices and sites, with Edit only for leads.</a:t>
            </a:r>
            <a:endParaRPr lang="en-US" sz="1200" dirty="0"/>
          </a:p>
        </p:txBody>
      </p:sp>
      <p:sp>
        <p:nvSpPr>
          <p:cNvPr id="19" name="Use 4"/>
          <p:cNvSpPr/>
          <p:nvPr/>
        </p:nvSpPr>
        <p:spPr>
          <a:xfrm>
            <a:off x="457200" y="3017520"/>
            <a:ext cx="2596896" cy="1508760"/>
          </a:xfrm>
          <a:prstGeom prst="roundRect">
            <a:avLst>
              <a:gd name="adj" fmla="val 4848"/>
            </a:avLst>
          </a:prstGeom>
          <a:solidFill>
            <a:schemeClr val="bg2"/>
          </a:solidFill>
          <a:ln/>
        </p:spPr>
      </p:sp>
      <p:sp>
        <p:nvSpPr>
          <p:cNvPr id="20" name="Use 4 circle"/>
          <p:cNvSpPr/>
          <p:nvPr/>
        </p:nvSpPr>
        <p:spPr>
          <a:xfrm>
            <a:off x="640080" y="3200400"/>
            <a:ext cx="457200" cy="457200"/>
          </a:xfrm>
          <a:prstGeom prst="ellipse">
            <a:avLst/>
          </a:prstGeom>
          <a:solidFill>
            <a:schemeClr val="accent6"/>
          </a:solidFill>
          <a:ln/>
        </p:spPr>
      </p:sp>
      <p:pic>
        <p:nvPicPr>
          <p:cNvPr id="21" name="Use 4 icon" descr="preencoded.png">    </p:cNvPr>
          <p:cNvPicPr>
            <a:picLocks noChangeAspect="1"/>
          </p:cNvPicPr>
          <p:nvPr/>
        </p:nvPicPr>
        <p:blipFill>
          <a:blip r:embed="rId4"/>
          <a:stretch>
            <a:fillRect/>
          </a:stretch>
        </p:blipFill>
        <p:spPr>
          <a:xfrm>
            <a:off x="749808" y="3310128"/>
            <a:ext cx="237744" cy="237744"/>
          </a:xfrm>
          <a:prstGeom prst="rect">
            <a:avLst/>
          </a:prstGeom>
        </p:spPr>
      </p:pic>
      <p:sp>
        <p:nvSpPr>
          <p:cNvPr id="22" name="Use 4 heading"/>
          <p:cNvSpPr txBox="1"/>
          <p:nvPr/>
        </p:nvSpPr>
        <p:spPr>
          <a:xfrm>
            <a:off x="1234440"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Legal, finance, health</a:t>
            </a:r>
            <a:endParaRPr lang="en-US" sz="1500" dirty="0"/>
          </a:p>
        </p:txBody>
      </p:sp>
      <p:sp>
        <p:nvSpPr>
          <p:cNvPr id="23" name="Use 4 text"/>
          <p:cNvSpPr txBox="1"/>
          <p:nvPr/>
        </p:nvSpPr>
        <p:spPr>
          <a:xfrm>
            <a:off x="640080"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Contracts, IDs and scans via a Submit folder with OTP and approval of every upload.</a:t>
            </a:r>
            <a:endParaRPr lang="en-US" sz="1200" dirty="0"/>
          </a:p>
        </p:txBody>
      </p:sp>
      <p:sp>
        <p:nvSpPr>
          <p:cNvPr id="24" name="Use 5"/>
          <p:cNvSpPr/>
          <p:nvPr/>
        </p:nvSpPr>
        <p:spPr>
          <a:xfrm>
            <a:off x="3273552" y="3017520"/>
            <a:ext cx="2596896" cy="1508760"/>
          </a:xfrm>
          <a:prstGeom prst="roundRect">
            <a:avLst>
              <a:gd name="adj" fmla="val 4848"/>
            </a:avLst>
          </a:prstGeom>
          <a:solidFill>
            <a:schemeClr val="bg2"/>
          </a:solidFill>
          <a:ln/>
        </p:spPr>
      </p:sp>
      <p:sp>
        <p:nvSpPr>
          <p:cNvPr id="25" name="Use 5 circle"/>
          <p:cNvSpPr/>
          <p:nvPr/>
        </p:nvSpPr>
        <p:spPr>
          <a:xfrm>
            <a:off x="3456432" y="3200400"/>
            <a:ext cx="457200" cy="457200"/>
          </a:xfrm>
          <a:prstGeom prst="ellipse">
            <a:avLst/>
          </a:prstGeom>
          <a:solidFill>
            <a:schemeClr val="accent2"/>
          </a:solidFill>
          <a:ln/>
        </p:spPr>
      </p:sp>
      <p:pic>
        <p:nvPicPr>
          <p:cNvPr id="26" name="Use 5 icon" descr="preencoded.png">    </p:cNvPr>
          <p:cNvPicPr>
            <a:picLocks noChangeAspect="1"/>
          </p:cNvPicPr>
          <p:nvPr/>
        </p:nvPicPr>
        <p:blipFill>
          <a:blip r:embed="rId5"/>
          <a:stretch>
            <a:fillRect/>
          </a:stretch>
        </p:blipFill>
        <p:spPr>
          <a:xfrm>
            <a:off x="3566160" y="3310128"/>
            <a:ext cx="237744" cy="237744"/>
          </a:xfrm>
          <a:prstGeom prst="rect">
            <a:avLst/>
          </a:prstGeom>
        </p:spPr>
      </p:pic>
      <p:sp>
        <p:nvSpPr>
          <p:cNvPr id="27" name="Use 5 heading"/>
          <p:cNvSpPr txBox="1"/>
          <p:nvPr/>
        </p:nvSpPr>
        <p:spPr>
          <a:xfrm>
            <a:off x="4050792"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Field &amp; remote teams</a:t>
            </a:r>
            <a:endParaRPr lang="en-US" sz="1500" dirty="0"/>
          </a:p>
        </p:txBody>
      </p:sp>
      <p:sp>
        <p:nvSpPr>
          <p:cNvPr id="28" name="Use 5 text"/>
          <p:cNvSpPr txBox="1"/>
          <p:nvPr/>
        </p:nvSpPr>
        <p:spPr>
          <a:xfrm>
            <a:off x="3456432"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Unreliable links and power cuts - transfers resume, never restart.</a:t>
            </a:r>
            <a:endParaRPr lang="en-US" sz="1200" dirty="0"/>
          </a:p>
        </p:txBody>
      </p:sp>
      <p:sp>
        <p:nvSpPr>
          <p:cNvPr id="29" name="Use 6"/>
          <p:cNvSpPr/>
          <p:nvPr/>
        </p:nvSpPr>
        <p:spPr>
          <a:xfrm>
            <a:off x="6089904" y="3017520"/>
            <a:ext cx="2596896" cy="1508760"/>
          </a:xfrm>
          <a:prstGeom prst="roundRect">
            <a:avLst>
              <a:gd name="adj" fmla="val 4848"/>
            </a:avLst>
          </a:prstGeom>
          <a:solidFill>
            <a:schemeClr val="bg2"/>
          </a:solidFill>
          <a:ln/>
        </p:spPr>
      </p:sp>
      <p:sp>
        <p:nvSpPr>
          <p:cNvPr id="30" name="Use 6 circle"/>
          <p:cNvSpPr/>
          <p:nvPr/>
        </p:nvSpPr>
        <p:spPr>
          <a:xfrm>
            <a:off x="6272784" y="3200400"/>
            <a:ext cx="457200" cy="457200"/>
          </a:xfrm>
          <a:prstGeom prst="ellipse">
            <a:avLst/>
          </a:prstGeom>
          <a:solidFill>
            <a:schemeClr val="accent5"/>
          </a:solidFill>
          <a:ln/>
        </p:spPr>
      </p:sp>
      <p:pic>
        <p:nvPicPr>
          <p:cNvPr id="31" name="Use 6 icon" descr="preencoded.png">    </p:cNvPr>
          <p:cNvPicPr>
            <a:picLocks noChangeAspect="1"/>
          </p:cNvPicPr>
          <p:nvPr/>
        </p:nvPicPr>
        <p:blipFill>
          <a:blip r:embed="rId6"/>
          <a:stretch>
            <a:fillRect/>
          </a:stretch>
        </p:blipFill>
        <p:spPr>
          <a:xfrm>
            <a:off x="6382512" y="3310128"/>
            <a:ext cx="237744" cy="237744"/>
          </a:xfrm>
          <a:prstGeom prst="rect">
            <a:avLst/>
          </a:prstGeom>
        </p:spPr>
      </p:pic>
      <p:sp>
        <p:nvSpPr>
          <p:cNvPr id="32" name="Use 6 heading"/>
          <p:cNvSpPr txBox="1"/>
          <p:nvPr/>
        </p:nvSpPr>
        <p:spPr>
          <a:xfrm>
            <a:off x="6867144" y="3200400"/>
            <a:ext cx="1682496" cy="457200"/>
          </a:xfrm>
          <a:prstGeom prst="rect">
            <a:avLst/>
          </a:prstGeom>
          <a:noFill/>
          <a:ln/>
        </p:spPr>
        <p:txBody>
          <a:bodyPr wrap="square" lIns="0" tIns="0" rIns="0" bIns="0" rtlCol="0" anchor="ctr"/>
          <a:lstStyle/>
          <a:p>
            <a:pPr indent="0" marL="0">
              <a:buNone/>
            </a:pPr>
            <a:r>
              <a:rPr lang="en-US" sz="1500" b="1" dirty="0">
                <a:solidFill>
                  <a:schemeClr val="tx1"/>
                </a:solidFill>
              </a:rPr>
              <a:t>Software &amp; game studios</a:t>
            </a:r>
            <a:endParaRPr lang="en-US" sz="1500" dirty="0"/>
          </a:p>
        </p:txBody>
      </p:sp>
      <p:sp>
        <p:nvSpPr>
          <p:cNvPr id="33" name="Use 6 text"/>
          <p:cNvSpPr txBox="1"/>
          <p:nvPr/>
        </p:nvSpPr>
        <p:spPr>
          <a:xfrm>
            <a:off x="6272784" y="3767328"/>
            <a:ext cx="2231136" cy="640080"/>
          </a:xfrm>
          <a:prstGeom prst="rect">
            <a:avLst/>
          </a:prstGeom>
          <a:noFill/>
          <a:ln/>
        </p:spPr>
        <p:txBody>
          <a:bodyPr wrap="square" lIns="0" tIns="0" rIns="0" bIns="0" rtlCol="0" anchor="t"/>
          <a:lstStyle/>
          <a:p>
            <a:pPr indent="0" marL="0">
              <a:buNone/>
            </a:pPr>
            <a:r>
              <a:rPr lang="en-US" sz="1200" dirty="0">
                <a:solidFill>
                  <a:schemeClr val="tx2"/>
                </a:solidFill>
              </a:rPr>
              <a:t>Daily multi-GB builds and assets shared with testers.</a:t>
            </a:r>
            <a:endParaRPr lang="en-US" sz="12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How FileJet compares</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General characteristics from public information, October 2026 - check vendors for current plans</a:t>
            </a:r>
            <a:endParaRPr lang="en-US" sz="1400" dirty="0"/>
          </a:p>
        </p:txBody>
      </p:sp>
      <p:graphicFrame>
        <p:nvGraphicFramePr>
          <p:cNvPr id="15" name="Comparison table"/>
          <p:cNvGraphicFramePr>
            <a:graphicFrameLocks noGrp="1"/>
          </p:cNvGraphicFramePr>
          <p:nvPr>
            <p:extLst>
              <p:ext uri="{D42A27DB-BD31-4B8C-83A1-F6EECF244321}">
                <p14:modId xmlns:p14="http://schemas.microsoft.com/office/powerpoint/2010/main" val="1579011935"/>
              </p:ext>
            </p:extLst>
          </p:nvPr>
        </p:nvGraphicFramePr>
        <p:xfrm>
          <a:off x="457200" y="1280160"/>
          <a:ext cx="8229600" cy="914400"/>
        </p:xfrm>
        <a:graphic>
          <a:graphicData uri="http://schemas.openxmlformats.org/drawingml/2006/table">
            <a:tbl>
              <a:tblPr/>
              <a:tblGrid>
                <a:gridCol w="1783080"/>
                <a:gridCol w="1188720"/>
                <a:gridCol w="1005840"/>
                <a:gridCol w="1051560"/>
                <a:gridCol w="1051560"/>
                <a:gridCol w="1097280"/>
                <a:gridCol w="1051560"/>
              </a:tblGrid>
              <a:tr h="347472">
                <a:tc>
                  <a:txBody>
                    <a:bodyPr/>
                    <a:lstStyle/>
                    <a:p>
                      <a:pPr algn="ctr" indent="0" marL="0">
                        <a:buNone/>
                      </a:pP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000" b="1" dirty="0">
                          <a:solidFill>
                            <a:schemeClr val="bg1"/>
                          </a:solidFill>
                        </a:rPr>
                        <a:t>FileJet</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6B2C"/>
                    </a:solidFill>
                  </a:tcPr>
                </a:tc>
                <a:tc>
                  <a:txBody>
                    <a:bodyPr/>
                    <a:lstStyle/>
                    <a:p>
                      <a:pPr algn="ctr" indent="0" marL="0">
                        <a:buNone/>
                      </a:pPr>
                      <a:r>
                        <a:rPr lang="en-US" sz="1000" b="1" dirty="0">
                          <a:solidFill>
                            <a:schemeClr val="bg1"/>
                          </a:solidFill>
                        </a:rPr>
                        <a:t>Dropbox</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000" b="1" dirty="0">
                          <a:solidFill>
                            <a:schemeClr val="bg1"/>
                          </a:solidFill>
                        </a:rPr>
                        <a:t>Google Drive</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000" b="1" dirty="0">
                          <a:solidFill>
                            <a:schemeClr val="bg1"/>
                          </a:solidFill>
                        </a:rPr>
                        <a:t>WeTransfer</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000" b="1" dirty="0">
                          <a:solidFill>
                            <a:schemeClr val="bg1"/>
                          </a:solidFill>
                        </a:rPr>
                        <a:t>Media Shuttle</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c>
                  <a:txBody>
                    <a:bodyPr/>
                    <a:lstStyle/>
                    <a:p>
                      <a:pPr algn="ctr" indent="0" marL="0">
                        <a:buNone/>
                      </a:pPr>
                      <a:r>
                        <a:rPr lang="en-US" sz="1000" b="1" dirty="0">
                          <a:solidFill>
                            <a:schemeClr val="bg1"/>
                          </a:solidFill>
                        </a:rPr>
                        <a:t>FTP / SFTP</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0F172A"/>
                    </a:solidFill>
                  </a:tcPr>
                </a:tc>
              </a:tr>
              <a:tr h="347472">
                <a:tc>
                  <a:txBody>
                    <a:bodyPr/>
                    <a:lstStyle/>
                    <a:p>
                      <a:pPr algn="l" indent="0" marL="0">
                        <a:buNone/>
                      </a:pPr>
                      <a:r>
                        <a:rPr lang="en-US" sz="1000" b="1" dirty="0">
                          <a:solidFill>
                            <a:schemeClr val="tx1"/>
                          </a:solidFill>
                        </a:rPr>
                        <a:t>Files stored on a 3rd-party server</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chemeClr val="tx1"/>
                          </a:solidFill>
                        </a:rPr>
                        <a:t>No - direct</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E3"/>
                    </a:solidFill>
                  </a:tcPr>
                </a:tc>
                <a:tc>
                  <a:txBody>
                    <a:bodyPr/>
                    <a:lstStyle/>
                    <a:p>
                      <a:pPr algn="ctr" indent="0" marL="0">
                        <a:buNone/>
                      </a:pPr>
                      <a:r>
                        <a:rPr lang="en-US" sz="1000" dirty="0">
                          <a:solidFill>
                            <a:srgbClr val="BE123C"/>
                          </a:solidFill>
                        </a:rPr>
                        <a:t>Yes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Yes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Yes, temporary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Your storage</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Your server</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b="1" dirty="0">
                          <a:solidFill>
                            <a:schemeClr val="tx1"/>
                          </a:solidFill>
                        </a:rPr>
                        <a:t>Storage cost</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chemeClr val="tx1"/>
                          </a:solidFill>
                        </a:rPr>
                        <a:t>None</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E3"/>
                    </a:solidFill>
                  </a:tcPr>
                </a:tc>
                <a:tc>
                  <a:txBody>
                    <a:bodyPr/>
                    <a:lstStyle/>
                    <a:p>
                      <a:pPr algn="ctr" indent="0" marL="0">
                        <a:buNone/>
                      </a:pPr>
                      <a:r>
                        <a:rPr lang="en-US" sz="1000" dirty="0">
                          <a:solidFill>
                            <a:srgbClr val="BE123C"/>
                          </a:solidFill>
                        </a:rPr>
                        <a:t>Per plan</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Per plan</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Plan-limited</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Enterprise</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Server + disk</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b="1" dirty="0">
                          <a:solidFill>
                            <a:schemeClr val="tx1"/>
                          </a:solidFill>
                        </a:rPr>
                        <a:t>Per-person folder permissions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chemeClr val="tx1"/>
                          </a:solidFill>
                        </a:rPr>
                        <a:t>4 rights + expiry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E3"/>
                    </a:solidFill>
                  </a:tcPr>
                </a:tc>
                <a:tc>
                  <a:txBody>
                    <a:bodyPr/>
                    <a:lstStyle/>
                    <a:p>
                      <a:pPr algn="ctr" indent="0" marL="0">
                        <a:buNone/>
                      </a:pPr>
                      <a:r>
                        <a:rPr lang="en-US" sz="1000" dirty="0">
                          <a:solidFill>
                            <a:srgbClr val="B45309"/>
                          </a:solidFill>
                        </a:rPr>
                        <a:t>View / edit</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Viewer / editor</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Link only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Portals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Server accounts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b="1" dirty="0">
                          <a:solidFill>
                            <a:schemeClr val="tx1"/>
                          </a:solidFill>
                        </a:rPr>
                        <a:t>OTP + upload approval</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chemeClr val="tx1"/>
                          </a:solidFill>
                        </a:rPr>
                        <a:t>Yes - 3 OTP channels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E3"/>
                    </a:solidFill>
                  </a:tcPr>
                </a:tc>
                <a:tc>
                  <a:txBody>
                    <a:bodyPr/>
                    <a:lstStyle/>
                    <a:p>
                      <a:pPr algn="ctr" indent="0" marL="0">
                        <a:buNone/>
                      </a:pPr>
                      <a:r>
                        <a:rPr lang="en-US" sz="1000" dirty="0">
                          <a:solidFill>
                            <a:srgbClr val="BE123C"/>
                          </a:solidFill>
                        </a:rPr>
                        <a:t>No</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No</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Sender e-mail</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Portal settings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No</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b="1" dirty="0">
                          <a:solidFill>
                            <a:schemeClr val="tx1"/>
                          </a:solidFill>
                        </a:rPr>
                        <a:t>Deliver while receiver offline</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chemeClr val="tx1"/>
                          </a:solidFill>
                        </a:rPr>
                        <a:t>Yes - outbox</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E3"/>
                    </a:solidFill>
                  </a:tcPr>
                </a:tc>
                <a:tc>
                  <a:txBody>
                    <a:bodyPr/>
                    <a:lstStyle/>
                    <a:p>
                      <a:pPr algn="ctr" indent="0" marL="0">
                        <a:buNone/>
                      </a:pPr>
                      <a:r>
                        <a:rPr lang="en-US" sz="1000" b="1" dirty="0">
                          <a:solidFill>
                            <a:srgbClr val="15803D"/>
                          </a:solidFill>
                        </a:rPr>
                        <a:t>Yes - cloud</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Yes - cloud</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Yes - cloud</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b="1" dirty="0">
                          <a:solidFill>
                            <a:schemeClr val="tx1"/>
                          </a:solidFill>
                        </a:rPr>
                        <a:t>Built-in chat &amp; presence</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chemeClr val="tx1"/>
                          </a:solidFill>
                        </a:rPr>
                        <a:t>Yes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E3"/>
                    </a:solidFill>
                  </a:tcPr>
                </a:tc>
                <a:tc>
                  <a:txBody>
                    <a:bodyPr/>
                    <a:lstStyle/>
                    <a:p>
                      <a:pPr algn="ctr" indent="0" marL="0">
                        <a:buNone/>
                      </a:pPr>
                      <a:r>
                        <a:rPr lang="en-US" sz="1000" dirty="0">
                          <a:solidFill>
                            <a:srgbClr val="BE123C"/>
                          </a:solidFill>
                        </a:rPr>
                        <a:t>No</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No</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No</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No</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No</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b="1" dirty="0">
                          <a:solidFill>
                            <a:schemeClr val="tx1"/>
                          </a:solidFill>
                        </a:rPr>
                        <a:t>History with every retry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chemeClr val="tx1"/>
                          </a:solidFill>
                        </a:rPr>
                        <a:t>Yes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E3"/>
                    </a:solidFill>
                  </a:tcPr>
                </a:tc>
                <a:tc>
                  <a:txBody>
                    <a:bodyPr/>
                    <a:lstStyle/>
                    <a:p>
                      <a:pPr algn="ctr" indent="0" marL="0">
                        <a:buNone/>
                      </a:pPr>
                      <a:r>
                        <a:rPr lang="en-US" sz="1000" dirty="0">
                          <a:solidFill>
                            <a:srgbClr val="B45309"/>
                          </a:solidFill>
                        </a:rPr>
                        <a:t>Partly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Partly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Partly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Yes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E123C"/>
                          </a:solidFill>
                        </a:rPr>
                        <a:t>Logs only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r h="347472">
                <a:tc>
                  <a:txBody>
                    <a:bodyPr/>
                    <a:lstStyle/>
                    <a:p>
                      <a:pPr algn="l" indent="0" marL="0">
                        <a:buNone/>
                      </a:pPr>
                      <a:r>
                        <a:rPr lang="en-US" sz="1000" b="1" dirty="0">
                          <a:solidFill>
                            <a:schemeClr val="tx1"/>
                          </a:solidFill>
                        </a:rPr>
                        <a:t>Recipient needs</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chemeClr val="tx1"/>
                          </a:solidFill>
                        </a:rPr>
                        <a:t>App + account</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solidFill>
                      <a:srgbClr val="FFEDE3"/>
                    </a:solidFill>
                  </a:tcPr>
                </a:tc>
                <a:tc>
                  <a:txBody>
                    <a:bodyPr/>
                    <a:lstStyle/>
                    <a:p>
                      <a:pPr algn="ctr" indent="0" marL="0">
                        <a:buNone/>
                      </a:pPr>
                      <a:r>
                        <a:rPr lang="en-US" sz="1000" b="1" dirty="0">
                          <a:solidFill>
                            <a:srgbClr val="15803D"/>
                          </a:solidFill>
                        </a:rPr>
                        <a:t>Account / link</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Account / link</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Browser only</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b="1" dirty="0">
                          <a:solidFill>
                            <a:srgbClr val="15803D"/>
                          </a:solidFill>
                        </a:rPr>
                        <a:t>Browser / app</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c>
                  <a:txBody>
                    <a:bodyPr/>
                    <a:lstStyle/>
                    <a:p>
                      <a:pPr algn="ctr" indent="0" marL="0">
                        <a:buNone/>
                      </a:pPr>
                      <a:r>
                        <a:rPr lang="en-US" sz="1000" dirty="0">
                          <a:solidFill>
                            <a:srgbClr val="B45309"/>
                          </a:solidFill>
                        </a:rPr>
                        <a:t>FTP client</a:t>
                      </a:r>
                      <a:endParaRPr lang="en-US" sz="1000" dirty="0"/>
                    </a:p>
                  </a:txBody>
                  <a:tcPr marL="50800" marR="50800" marT="25400" marB="25400" anchor="ctr">
                    <a:lnL w="6350" cap="flat" cmpd="sng" algn="ctr">
                      <a:solidFill>
                        <a:srgbClr val="E2E8F0"/>
                      </a:solidFill>
                      <a:prstDash val="solid"/>
                      <a:round/>
                      <a:headEnd type="none" w="med" len="med"/>
                      <a:tailEnd type="none" w="med" len="med"/>
                    </a:lnL>
                    <a:lnR w="6350" cap="flat" cmpd="sng" algn="ctr">
                      <a:solidFill>
                        <a:srgbClr val="E2E8F0"/>
                      </a:solidFill>
                      <a:prstDash val="solid"/>
                      <a:round/>
                      <a:headEnd type="none" w="med" len="med"/>
                      <a:tailEnd type="none" w="med" len="med"/>
                    </a:lnR>
                    <a:lnT w="6350" cap="flat" cmpd="sng" algn="ctr">
                      <a:solidFill>
                        <a:srgbClr val="E2E8F0"/>
                      </a:solidFill>
                      <a:prstDash val="solid"/>
                      <a:round/>
                      <a:headEnd type="none" w="med" len="med"/>
                      <a:tailEnd type="none" w="med" len="med"/>
                    </a:lnT>
                    <a:lnB w="6350" cap="flat" cmpd="sng" algn="ctr">
                      <a:solidFill>
                        <a:srgbClr val="E2E8F0"/>
                      </a:solidFill>
                      <a:prstDash val="solid"/>
                      <a:round/>
                      <a:headEnd type="none" w="med" len="med"/>
                      <a:tailEnd type="none" w="med" len="med"/>
                    </a:lnB>
                  </a:tcPr>
                </a:tc>
              </a:tr>
            </a:tbl>
          </a:graphicData>
        </a:graphic>
      </p:graphicFrame>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tx1"/>
                </a:solidFill>
              </a:rPr>
              <a:t>Where FileJet wins - and where others fit</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tx2"/>
                </a:solidFill>
              </a:rPr>
              <a:t>An honest positioning that builds trust with buyers</a:t>
            </a:r>
            <a:endParaRPr lang="en-US" sz="1400" dirty="0"/>
          </a:p>
        </p:txBody>
      </p:sp>
      <p:sp>
        <p:nvSpPr>
          <p:cNvPr id="4" name="Wins card"/>
          <p:cNvSpPr/>
          <p:nvPr/>
        </p:nvSpPr>
        <p:spPr>
          <a:xfrm>
            <a:off x="457200" y="1325880"/>
            <a:ext cx="3977640" cy="3154680"/>
          </a:xfrm>
          <a:prstGeom prst="roundRect">
            <a:avLst>
              <a:gd name="adj" fmla="val 2319"/>
            </a:avLst>
          </a:prstGeom>
          <a:solidFill>
            <a:srgbClr val="FFEDE3"/>
          </a:solidFill>
          <a:ln/>
        </p:spPr>
      </p:sp>
      <p:sp>
        <p:nvSpPr>
          <p:cNvPr id="5" name="Wins circle"/>
          <p:cNvSpPr/>
          <p:nvPr/>
        </p:nvSpPr>
        <p:spPr>
          <a:xfrm>
            <a:off x="640080" y="1481328"/>
            <a:ext cx="457200" cy="457200"/>
          </a:xfrm>
          <a:prstGeom prst="ellipse">
            <a:avLst/>
          </a:prstGeom>
          <a:solidFill>
            <a:schemeClr val="accent1"/>
          </a:solidFill>
          <a:ln/>
        </p:spPr>
      </p:sp>
      <p:pic>
        <p:nvPicPr>
          <p:cNvPr id="6" name="Wins icon" descr="preencoded.png">    </p:cNvPr>
          <p:cNvPicPr>
            <a:picLocks noChangeAspect="1"/>
          </p:cNvPicPr>
          <p:nvPr/>
        </p:nvPicPr>
        <p:blipFill>
          <a:blip r:embed="rId1"/>
          <a:stretch>
            <a:fillRect/>
          </a:stretch>
        </p:blipFill>
        <p:spPr>
          <a:xfrm>
            <a:off x="749808" y="1591056"/>
            <a:ext cx="237744" cy="237744"/>
          </a:xfrm>
          <a:prstGeom prst="rect">
            <a:avLst/>
          </a:prstGeom>
        </p:spPr>
      </p:pic>
      <p:sp>
        <p:nvSpPr>
          <p:cNvPr id="7" name="Wins head"/>
          <p:cNvSpPr txBox="1"/>
          <p:nvPr/>
        </p:nvSpPr>
        <p:spPr>
          <a:xfrm>
            <a:off x="1234440" y="1481328"/>
            <a:ext cx="3108960" cy="457200"/>
          </a:xfrm>
          <a:prstGeom prst="rect">
            <a:avLst/>
          </a:prstGeom>
          <a:noFill/>
          <a:ln/>
        </p:spPr>
        <p:txBody>
          <a:bodyPr wrap="square" lIns="0" tIns="0" rIns="0" bIns="0" rtlCol="0" anchor="ctr"/>
          <a:lstStyle/>
          <a:p>
            <a:pPr indent="0" marL="0">
              <a:buNone/>
            </a:pPr>
            <a:r>
              <a:rPr lang="en-US" sz="1500" b="1" dirty="0">
                <a:solidFill>
                  <a:schemeClr val="tx1"/>
                </a:solidFill>
              </a:rPr>
              <a:t>Choose FileJet when you need</a:t>
            </a:r>
            <a:endParaRPr lang="en-US" sz="1500" dirty="0"/>
          </a:p>
        </p:txBody>
      </p:sp>
      <p:sp>
        <p:nvSpPr>
          <p:cNvPr id="8" name="Wins list"/>
          <p:cNvSpPr txBox="1"/>
          <p:nvPr/>
        </p:nvSpPr>
        <p:spPr>
          <a:xfrm>
            <a:off x="685800" y="2103120"/>
            <a:ext cx="3611880" cy="224028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Large files fast, with no cloud copy and no storage bill</a:t>
            </a:r>
            <a:endParaRPr lang="en-US" sz="1300" dirty="0"/>
          </a:p>
          <a:p>
            <a:pPr marL="342900" indent="-342900">
              <a:spcAft>
                <a:spcPts val="800"/>
              </a:spcAft>
              <a:buSzPct val="100000"/>
              <a:buChar char="•"/>
            </a:pPr>
            <a:r>
              <a:rPr lang="en-US" sz="1300" dirty="0">
                <a:solidFill>
                  <a:schemeClr val="tx1"/>
                </a:solidFill>
              </a:rPr>
              <a:t>Strict control over who sends what: roles, OTP, upload approval</a:t>
            </a:r>
            <a:endParaRPr lang="en-US" sz="1300" dirty="0"/>
          </a:p>
          <a:p>
            <a:pPr marL="342900" indent="-342900">
              <a:spcAft>
                <a:spcPts val="800"/>
              </a:spcAft>
              <a:buSzPct val="100000"/>
              <a:buChar char="•"/>
            </a:pPr>
            <a:r>
              <a:rPr lang="en-US" sz="1300" dirty="0">
                <a:solidFill>
                  <a:schemeClr val="tx1"/>
                </a:solidFill>
              </a:rPr>
              <a:t>Delivery that survives outages and offline receivers</a:t>
            </a:r>
            <a:endParaRPr lang="en-US" sz="1300" dirty="0"/>
          </a:p>
          <a:p>
            <a:pPr marL="342900" indent="-342900">
              <a:spcAft>
                <a:spcPts val="800"/>
              </a:spcAft>
              <a:buSzPct val="100000"/>
              <a:buChar char="•"/>
            </a:pPr>
            <a:r>
              <a:rPr lang="en-US" sz="1300" dirty="0">
                <a:solidFill>
                  <a:schemeClr val="tx1"/>
                </a:solidFill>
              </a:rPr>
              <a:t>Files kept on your own disks or NAS for compliance</a:t>
            </a:r>
            <a:endParaRPr lang="en-US" sz="1300" dirty="0"/>
          </a:p>
        </p:txBody>
      </p:sp>
      <p:sp>
        <p:nvSpPr>
          <p:cNvPr id="9" name="Fit 1"/>
          <p:cNvSpPr/>
          <p:nvPr/>
        </p:nvSpPr>
        <p:spPr>
          <a:xfrm>
            <a:off x="4709160" y="1325880"/>
            <a:ext cx="3977640" cy="685800"/>
          </a:xfrm>
          <a:prstGeom prst="roundRect">
            <a:avLst>
              <a:gd name="adj" fmla="val 10667"/>
            </a:avLst>
          </a:prstGeom>
          <a:solidFill>
            <a:schemeClr val="bg2"/>
          </a:solidFill>
          <a:ln/>
        </p:spPr>
      </p:sp>
      <p:sp>
        <p:nvSpPr>
          <p:cNvPr id="10" name="Fit text 1"/>
          <p:cNvSpPr txBox="1"/>
          <p:nvPr/>
        </p:nvSpPr>
        <p:spPr>
          <a:xfrm>
            <a:off x="4892040" y="1325880"/>
            <a:ext cx="3657600" cy="685800"/>
          </a:xfrm>
          <a:prstGeom prst="rect">
            <a:avLst/>
          </a:prstGeom>
          <a:noFill/>
          <a:ln/>
        </p:spPr>
        <p:txBody>
          <a:bodyPr wrap="square" lIns="0" tIns="0" rIns="0" bIns="0" rtlCol="0" anchor="ctr"/>
          <a:lstStyle/>
          <a:p>
            <a:pPr indent="0" marL="0">
              <a:buNone/>
            </a:pPr>
            <a:r>
              <a:rPr lang="en-US" sz="1300" b="1" dirty="0">
                <a:solidFill>
                  <a:schemeClr val="tx1"/>
                </a:solidFill>
              </a:rPr>
              <a:t>Dropbox / Google Drive</a:t>
            </a:r>
            <a:endParaRPr lang="en-US" sz="1300" dirty="0"/>
          </a:p>
          <a:p>
            <a:pPr indent="0" marL="0">
              <a:buNone/>
            </a:pPr>
            <a:r>
              <a:rPr lang="en-US" sz="1200" dirty="0">
                <a:solidFill>
                  <a:schemeClr val="tx2"/>
                </a:solidFill>
              </a:rPr>
              <a:t>Online backup, versions and browser editing</a:t>
            </a:r>
            <a:endParaRPr lang="en-US" sz="1300" dirty="0"/>
          </a:p>
        </p:txBody>
      </p:sp>
      <p:sp>
        <p:nvSpPr>
          <p:cNvPr id="11" name="Fit 2"/>
          <p:cNvSpPr/>
          <p:nvPr/>
        </p:nvSpPr>
        <p:spPr>
          <a:xfrm>
            <a:off x="4709160" y="2130552"/>
            <a:ext cx="3977640" cy="685800"/>
          </a:xfrm>
          <a:prstGeom prst="roundRect">
            <a:avLst>
              <a:gd name="adj" fmla="val 10667"/>
            </a:avLst>
          </a:prstGeom>
          <a:solidFill>
            <a:schemeClr val="bg2"/>
          </a:solidFill>
          <a:ln/>
        </p:spPr>
      </p:sp>
      <p:sp>
        <p:nvSpPr>
          <p:cNvPr id="12" name="Fit text 2"/>
          <p:cNvSpPr txBox="1"/>
          <p:nvPr/>
        </p:nvSpPr>
        <p:spPr>
          <a:xfrm>
            <a:off x="4892040" y="2130552"/>
            <a:ext cx="3657600" cy="685800"/>
          </a:xfrm>
          <a:prstGeom prst="rect">
            <a:avLst/>
          </a:prstGeom>
          <a:noFill/>
          <a:ln/>
        </p:spPr>
        <p:txBody>
          <a:bodyPr wrap="square" lIns="0" tIns="0" rIns="0" bIns="0" rtlCol="0" anchor="ctr"/>
          <a:lstStyle/>
          <a:p>
            <a:pPr indent="0" marL="0">
              <a:buNone/>
            </a:pPr>
            <a:r>
              <a:rPr lang="en-US" sz="1300" b="1" dirty="0">
                <a:solidFill>
                  <a:schemeClr val="tx1"/>
                </a:solidFill>
              </a:rPr>
              <a:t>WeTransfer</a:t>
            </a:r>
            <a:endParaRPr lang="en-US" sz="1300" dirty="0"/>
          </a:p>
          <a:p>
            <a:pPr indent="0" marL="0">
              <a:buNone/>
            </a:pPr>
            <a:r>
              <a:rPr lang="en-US" sz="1200" dirty="0">
                <a:solidFill>
                  <a:schemeClr val="tx2"/>
                </a:solidFill>
              </a:rPr>
              <a:t>Quick one-off send to someone with no app</a:t>
            </a:r>
            <a:endParaRPr lang="en-US" sz="1300" dirty="0"/>
          </a:p>
        </p:txBody>
      </p:sp>
      <p:sp>
        <p:nvSpPr>
          <p:cNvPr id="13" name="Fit 3"/>
          <p:cNvSpPr/>
          <p:nvPr/>
        </p:nvSpPr>
        <p:spPr>
          <a:xfrm>
            <a:off x="4709160" y="2935224"/>
            <a:ext cx="3977640" cy="685800"/>
          </a:xfrm>
          <a:prstGeom prst="roundRect">
            <a:avLst>
              <a:gd name="adj" fmla="val 10667"/>
            </a:avLst>
          </a:prstGeom>
          <a:solidFill>
            <a:schemeClr val="bg2"/>
          </a:solidFill>
          <a:ln/>
        </p:spPr>
      </p:sp>
      <p:sp>
        <p:nvSpPr>
          <p:cNvPr id="14" name="Fit text 3"/>
          <p:cNvSpPr txBox="1"/>
          <p:nvPr/>
        </p:nvSpPr>
        <p:spPr>
          <a:xfrm>
            <a:off x="4892040" y="2935224"/>
            <a:ext cx="3657600" cy="685800"/>
          </a:xfrm>
          <a:prstGeom prst="rect">
            <a:avLst/>
          </a:prstGeom>
          <a:noFill/>
          <a:ln/>
        </p:spPr>
        <p:txBody>
          <a:bodyPr wrap="square" lIns="0" tIns="0" rIns="0" bIns="0" rtlCol="0" anchor="ctr"/>
          <a:lstStyle/>
          <a:p>
            <a:pPr indent="0" marL="0">
              <a:buNone/>
            </a:pPr>
            <a:r>
              <a:rPr lang="en-US" sz="1300" b="1" dirty="0">
                <a:solidFill>
                  <a:schemeClr val="tx1"/>
                </a:solidFill>
              </a:rPr>
              <a:t>Signiant Media Shuttle</a:t>
            </a:r>
            <a:endParaRPr lang="en-US" sz="1300" dirty="0"/>
          </a:p>
          <a:p>
            <a:pPr indent="0" marL="0">
              <a:buNone/>
            </a:pPr>
            <a:r>
              <a:rPr lang="en-US" sz="1200" dirty="0">
                <a:solidFill>
                  <a:schemeClr val="tx2"/>
                </a:solidFill>
              </a:rPr>
              <a:t>Enterprise media pipelines into managed storage</a:t>
            </a:r>
            <a:endParaRPr lang="en-US" sz="1300" dirty="0"/>
          </a:p>
        </p:txBody>
      </p:sp>
      <p:sp>
        <p:nvSpPr>
          <p:cNvPr id="15" name="Fit 4"/>
          <p:cNvSpPr/>
          <p:nvPr/>
        </p:nvSpPr>
        <p:spPr>
          <a:xfrm>
            <a:off x="4709160" y="3739896"/>
            <a:ext cx="3977640" cy="685800"/>
          </a:xfrm>
          <a:prstGeom prst="roundRect">
            <a:avLst>
              <a:gd name="adj" fmla="val 10667"/>
            </a:avLst>
          </a:prstGeom>
          <a:solidFill>
            <a:schemeClr val="bg2"/>
          </a:solidFill>
          <a:ln/>
        </p:spPr>
      </p:sp>
      <p:sp>
        <p:nvSpPr>
          <p:cNvPr id="16" name="Fit text 4"/>
          <p:cNvSpPr txBox="1"/>
          <p:nvPr/>
        </p:nvSpPr>
        <p:spPr>
          <a:xfrm>
            <a:off x="4892040" y="3739896"/>
            <a:ext cx="3657600" cy="685800"/>
          </a:xfrm>
          <a:prstGeom prst="rect">
            <a:avLst/>
          </a:prstGeom>
          <a:noFill/>
          <a:ln/>
        </p:spPr>
        <p:txBody>
          <a:bodyPr wrap="square" lIns="0" tIns="0" rIns="0" bIns="0" rtlCol="0" anchor="ctr"/>
          <a:lstStyle/>
          <a:p>
            <a:pPr indent="0" marL="0">
              <a:buNone/>
            </a:pPr>
            <a:r>
              <a:rPr lang="en-US" sz="1300" b="1" dirty="0">
                <a:solidFill>
                  <a:schemeClr val="tx1"/>
                </a:solidFill>
              </a:rPr>
              <a:t>FTP / SFTP</a:t>
            </a:r>
            <a:endParaRPr lang="en-US" sz="1300" dirty="0"/>
          </a:p>
          <a:p>
            <a:pPr indent="0" marL="0">
              <a:buNone/>
            </a:pPr>
            <a:r>
              <a:rPr lang="en-US" sz="1200" dirty="0">
                <a:solidFill>
                  <a:schemeClr val="tx2"/>
                </a:solidFill>
              </a:rPr>
              <a:t>Automated server-to-server scripts</a:t>
            </a:r>
            <a:endParaRPr lang="en-US" sz="13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tx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548640"/>
          </a:xfrm>
          <a:prstGeom prst="rect">
            <a:avLst/>
          </a:prstGeom>
          <a:noFill/>
          <a:ln/>
        </p:spPr>
        <p:txBody>
          <a:bodyPr wrap="square" lIns="0" tIns="0" rIns="0" bIns="0" rtlCol="0" anchor="ctr"/>
          <a:lstStyle/>
          <a:p>
            <a:pPr algn="l" indent="0" marL="0">
              <a:buNone/>
            </a:pPr>
            <a:r>
              <a:rPr lang="en-US" sz="3000" b="1" dirty="0">
                <a:solidFill>
                  <a:schemeClr val="bg1"/>
                </a:solidFill>
              </a:rPr>
              <a:t>Get started in three steps</a:t>
            </a:r>
            <a:endParaRPr lang="en-US" sz="3000" dirty="0"/>
          </a:p>
        </p:txBody>
      </p:sp>
      <p:sp>
        <p:nvSpPr>
          <p:cNvPr id="3" name="Text 0"/>
          <p:cNvSpPr/>
          <p:nvPr>
            <p:ph idx="101" type="body" hasCustomPrompt="1"/>
          </p:nvPr>
        </p:nvSpPr>
        <p:spPr>
          <a:xfrm>
            <a:off x="457200" y="841248"/>
            <a:ext cx="8229600" cy="329184"/>
          </a:xfrm>
          <a:prstGeom prst="rect">
            <a:avLst/>
          </a:prstGeom>
          <a:noFill/>
          <a:ln/>
        </p:spPr>
        <p:txBody>
          <a:bodyPr wrap="square" lIns="0" tIns="0" rIns="0" bIns="0" rtlCol="0" anchor="t"/>
          <a:lstStyle/>
          <a:p>
            <a:pPr indent="0" marL="0">
              <a:buNone/>
            </a:pPr>
            <a:r>
              <a:rPr lang="en-US" sz="1400" dirty="0">
                <a:solidFill>
                  <a:schemeClr val="bg2"/>
                </a:solidFill>
              </a:rPr>
              <a:t>From install to first delivery in minutes</a:t>
            </a:r>
            <a:endParaRPr lang="en-US" sz="1400" dirty="0"/>
          </a:p>
        </p:txBody>
      </p:sp>
      <p:sp>
        <p:nvSpPr>
          <p:cNvPr id="4" name="Step circle 1"/>
          <p:cNvSpPr/>
          <p:nvPr/>
        </p:nvSpPr>
        <p:spPr>
          <a:xfrm>
            <a:off x="457200" y="1463040"/>
            <a:ext cx="640080" cy="640080"/>
          </a:xfrm>
          <a:prstGeom prst="ellipse">
            <a:avLst/>
          </a:prstGeom>
          <a:solidFill>
            <a:schemeClr val="accent1"/>
          </a:solidFill>
          <a:ln/>
        </p:spPr>
      </p:sp>
      <p:sp>
        <p:nvSpPr>
          <p:cNvPr id="5" name="Step num 1"/>
          <p:cNvSpPr txBox="1"/>
          <p:nvPr/>
        </p:nvSpPr>
        <p:spPr>
          <a:xfrm>
            <a:off x="457200"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6" name="Step head 1"/>
          <p:cNvSpPr txBox="1"/>
          <p:nvPr/>
        </p:nvSpPr>
        <p:spPr>
          <a:xfrm>
            <a:off x="457200" y="2240280"/>
            <a:ext cx="2560320" cy="411480"/>
          </a:xfrm>
          <a:prstGeom prst="rect">
            <a:avLst/>
          </a:prstGeom>
          <a:noFill/>
          <a:ln/>
        </p:spPr>
        <p:txBody>
          <a:bodyPr wrap="square" lIns="0" tIns="0" rIns="0" bIns="0" rtlCol="0" anchor="ctr"/>
          <a:lstStyle/>
          <a:p>
            <a:pPr indent="0" marL="0">
              <a:buNone/>
            </a:pPr>
            <a:r>
              <a:rPr lang="en-US" sz="1800" b="1" dirty="0">
                <a:solidFill>
                  <a:schemeClr val="bg1"/>
                </a:solidFill>
              </a:rPr>
              <a:t>Install &amp; sign up</a:t>
            </a:r>
            <a:endParaRPr lang="en-US" sz="1800" dirty="0"/>
          </a:p>
        </p:txBody>
      </p:sp>
      <p:sp>
        <p:nvSpPr>
          <p:cNvPr id="7" name="Step text 1"/>
          <p:cNvSpPr txBox="1"/>
          <p:nvPr/>
        </p:nvSpPr>
        <p:spPr>
          <a:xfrm>
            <a:off x="457200" y="2697480"/>
            <a:ext cx="2514600" cy="822960"/>
          </a:xfrm>
          <a:prstGeom prst="rect">
            <a:avLst/>
          </a:prstGeom>
          <a:noFill/>
          <a:ln/>
        </p:spPr>
        <p:txBody>
          <a:bodyPr wrap="square" lIns="0" tIns="0" rIns="0" bIns="0" rtlCol="0" anchor="t"/>
          <a:lstStyle/>
          <a:p>
            <a:pPr indent="0" marL="0">
              <a:buNone/>
            </a:pPr>
            <a:r>
              <a:rPr lang="en-US" sz="1300" dirty="0">
                <a:solidFill>
                  <a:schemeClr val="bg2"/>
                </a:solidFill>
              </a:rPr>
              <a:t>Install the FileJet app and create an account. You get a 9-digit ID.</a:t>
            </a:r>
            <a:endParaRPr lang="en-US" sz="1300" dirty="0"/>
          </a:p>
        </p:txBody>
      </p:sp>
      <p:sp>
        <p:nvSpPr>
          <p:cNvPr id="8" name="Step circle 2"/>
          <p:cNvSpPr/>
          <p:nvPr/>
        </p:nvSpPr>
        <p:spPr>
          <a:xfrm>
            <a:off x="3273552" y="1463040"/>
            <a:ext cx="640080" cy="640080"/>
          </a:xfrm>
          <a:prstGeom prst="ellipse">
            <a:avLst/>
          </a:prstGeom>
          <a:solidFill>
            <a:schemeClr val="accent1"/>
          </a:solidFill>
          <a:ln/>
        </p:spPr>
      </p:sp>
      <p:sp>
        <p:nvSpPr>
          <p:cNvPr id="9" name="Step num 2"/>
          <p:cNvSpPr txBox="1"/>
          <p:nvPr/>
        </p:nvSpPr>
        <p:spPr>
          <a:xfrm>
            <a:off x="3273552"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0" name="Step head 2"/>
          <p:cNvSpPr txBox="1"/>
          <p:nvPr/>
        </p:nvSpPr>
        <p:spPr>
          <a:xfrm>
            <a:off x="3273552" y="2240280"/>
            <a:ext cx="2560320" cy="411480"/>
          </a:xfrm>
          <a:prstGeom prst="rect">
            <a:avLst/>
          </a:prstGeom>
          <a:noFill/>
          <a:ln/>
        </p:spPr>
        <p:txBody>
          <a:bodyPr wrap="square" lIns="0" tIns="0" rIns="0" bIns="0" rtlCol="0" anchor="ctr"/>
          <a:lstStyle/>
          <a:p>
            <a:pPr indent="0" marL="0">
              <a:buNone/>
            </a:pPr>
            <a:r>
              <a:rPr lang="en-US" sz="1800" b="1" dirty="0">
                <a:solidFill>
                  <a:schemeClr val="bg1"/>
                </a:solidFill>
              </a:rPr>
              <a:t>Share a folder</a:t>
            </a:r>
            <a:endParaRPr lang="en-US" sz="1800" dirty="0"/>
          </a:p>
        </p:txBody>
      </p:sp>
      <p:sp>
        <p:nvSpPr>
          <p:cNvPr id="11" name="Step text 2"/>
          <p:cNvSpPr txBox="1"/>
          <p:nvPr/>
        </p:nvSpPr>
        <p:spPr>
          <a:xfrm>
            <a:off x="3273552" y="2697480"/>
            <a:ext cx="2514600" cy="822960"/>
          </a:xfrm>
          <a:prstGeom prst="rect">
            <a:avLst/>
          </a:prstGeom>
          <a:noFill/>
          <a:ln/>
        </p:spPr>
        <p:txBody>
          <a:bodyPr wrap="square" lIns="0" tIns="0" rIns="0" bIns="0" rtlCol="0" anchor="t"/>
          <a:lstStyle/>
          <a:p>
            <a:pPr indent="0" marL="0">
              <a:buNone/>
            </a:pPr>
            <a:r>
              <a:rPr lang="en-US" sz="1300" dirty="0">
                <a:solidFill>
                  <a:schemeClr val="bg2"/>
                </a:solidFill>
              </a:rPr>
              <a:t>Pick a folder on your PC or NAS, add people by ID and choose their rights.</a:t>
            </a:r>
            <a:endParaRPr lang="en-US" sz="1300" dirty="0"/>
          </a:p>
        </p:txBody>
      </p:sp>
      <p:sp>
        <p:nvSpPr>
          <p:cNvPr id="12" name="Step circle 3"/>
          <p:cNvSpPr/>
          <p:nvPr/>
        </p:nvSpPr>
        <p:spPr>
          <a:xfrm>
            <a:off x="6089904" y="1463040"/>
            <a:ext cx="640080" cy="640080"/>
          </a:xfrm>
          <a:prstGeom prst="ellipse">
            <a:avLst/>
          </a:prstGeom>
          <a:solidFill>
            <a:schemeClr val="accent1"/>
          </a:solidFill>
          <a:ln/>
        </p:spPr>
      </p:sp>
      <p:sp>
        <p:nvSpPr>
          <p:cNvPr id="13" name="Step num 3"/>
          <p:cNvSpPr txBox="1"/>
          <p:nvPr/>
        </p:nvSpPr>
        <p:spPr>
          <a:xfrm>
            <a:off x="6089904" y="146304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Step head 3"/>
          <p:cNvSpPr txBox="1"/>
          <p:nvPr/>
        </p:nvSpPr>
        <p:spPr>
          <a:xfrm>
            <a:off x="6089904" y="2240280"/>
            <a:ext cx="2560320" cy="411480"/>
          </a:xfrm>
          <a:prstGeom prst="rect">
            <a:avLst/>
          </a:prstGeom>
          <a:noFill/>
          <a:ln/>
        </p:spPr>
        <p:txBody>
          <a:bodyPr wrap="square" lIns="0" tIns="0" rIns="0" bIns="0" rtlCol="0" anchor="ctr"/>
          <a:lstStyle/>
          <a:p>
            <a:pPr indent="0" marL="0">
              <a:buNone/>
            </a:pPr>
            <a:r>
              <a:rPr lang="en-US" sz="1800" b="1" dirty="0">
                <a:solidFill>
                  <a:schemeClr val="bg1"/>
                </a:solidFill>
              </a:rPr>
              <a:t>Send &amp; receive</a:t>
            </a:r>
            <a:endParaRPr lang="en-US" sz="1800" dirty="0"/>
          </a:p>
        </p:txBody>
      </p:sp>
      <p:sp>
        <p:nvSpPr>
          <p:cNvPr id="15" name="Step text 3"/>
          <p:cNvSpPr txBox="1"/>
          <p:nvPr/>
        </p:nvSpPr>
        <p:spPr>
          <a:xfrm>
            <a:off x="6089904" y="2697480"/>
            <a:ext cx="2514600" cy="822960"/>
          </a:xfrm>
          <a:prstGeom prst="rect">
            <a:avLst/>
          </a:prstGeom>
          <a:noFill/>
          <a:ln/>
        </p:spPr>
        <p:txBody>
          <a:bodyPr wrap="square" lIns="0" tIns="0" rIns="0" bIns="0" rtlCol="0" anchor="t"/>
          <a:lstStyle/>
          <a:p>
            <a:pPr indent="0" marL="0">
              <a:buNone/>
            </a:pPr>
            <a:r>
              <a:rPr lang="en-US" sz="1300" dirty="0">
                <a:solidFill>
                  <a:schemeClr val="bg2"/>
                </a:solidFill>
              </a:rPr>
              <a:t>Drag in files of any size. FileJet delivers, verifies and keeps the record.</a:t>
            </a:r>
            <a:endParaRPr lang="en-US" sz="1300" dirty="0"/>
          </a:p>
        </p:txBody>
      </p:sp>
      <p:sp>
        <p:nvSpPr>
          <p:cNvPr id="16" name="Closing line"/>
          <p:cNvSpPr txBox="1"/>
          <p:nvPr/>
        </p:nvSpPr>
        <p:spPr>
          <a:xfrm>
            <a:off x="457200" y="3840480"/>
            <a:ext cx="8229600" cy="457200"/>
          </a:xfrm>
          <a:prstGeom prst="rect">
            <a:avLst/>
          </a:prstGeom>
          <a:noFill/>
          <a:ln/>
        </p:spPr>
        <p:txBody>
          <a:bodyPr wrap="square" lIns="0" tIns="0" rIns="0" bIns="0" rtlCol="0" anchor="ctr"/>
          <a:lstStyle/>
          <a:p>
            <a:pPr indent="0" marL="0">
              <a:buNone/>
            </a:pPr>
            <a:r>
              <a:rPr lang="en-US" sz="1800" b="1" i="1" dirty="0">
                <a:solidFill>
                  <a:schemeClr val="accent1"/>
                </a:solidFill>
              </a:rPr>
              <a:t>FileJet</a:t>
            </a:r>
            <a:pPr indent="0" marL="0">
              <a:buNone/>
            </a:pPr>
            <a:r>
              <a:rPr lang="en-US" sz="1800" i="1" dirty="0">
                <a:solidFill>
                  <a:schemeClr val="bg1"/>
                </a:solidFill>
              </a:rPr>
              <a:t> - move big files securely, keep control, and skip the cloud storage bill.</a:t>
            </a:r>
            <a:endParaRPr lang="en-US" sz="18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chemeClr val="bg2"/>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ileJet">
  <a:themeElements>
    <a:clrScheme name="FileJet">
      <a:dk1>
        <a:srgbClr val="0F172A"/>
      </a:dk1>
      <a:lt1>
        <a:srgbClr val="FFFFFF"/>
      </a:lt1>
      <a:dk2>
        <a:srgbClr val="475569"/>
      </a:dk2>
      <a:lt2>
        <a:srgbClr val="F1F5F9"/>
      </a:lt2>
      <a:accent1>
        <a:srgbClr val="FF6B2C"/>
      </a:accent1>
      <a:accent2>
        <a:srgbClr val="14B8A6"/>
      </a:accent2>
      <a:accent3>
        <a:srgbClr val="6366F1"/>
      </a:accent3>
      <a:accent4>
        <a:srgbClr val="F59E0B"/>
      </a:accent4>
      <a:accent5>
        <a:srgbClr val="22C55E"/>
      </a:accent5>
      <a:accent6>
        <a:srgbClr val="E11D48"/>
      </a:accent6>
      <a:hlink>
        <a:srgbClr val="14B8A6"/>
      </a:hlink>
      <a:folHlink>
        <a:srgbClr val="6366F1"/>
      </a:folHlink>
    </a:clrScheme>
    <a:fontScheme name="FileJe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FileJet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FileJet - Marketing Deck</dc:title>
  <dc:subject>PptxGenJS Presentation</dc:subject>
  <dc:creator>FileJet</dc:creator>
  <cp:lastModifiedBy>FileJet</cp:lastModifiedBy>
  <cp:revision>1</cp:revision>
  <dcterms:created xsi:type="dcterms:W3CDTF">2026-10-04T12:16:16Z</dcterms:created>
  <dcterms:modified xsi:type="dcterms:W3CDTF">2026-10-04T12:16:16Z</dcterms:modified>
</cp:coreProperties>
</file>